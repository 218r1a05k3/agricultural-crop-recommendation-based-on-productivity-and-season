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Lst>
  <p:notesMasterIdLst>
    <p:notesMasterId r:id="rId27"/>
  </p:notesMasterIdLst>
  <p:sldIdLst>
    <p:sldId id="282" r:id="rId4"/>
    <p:sldId id="263" r:id="rId5"/>
    <p:sldId id="281" r:id="rId6"/>
    <p:sldId id="264" r:id="rId7"/>
    <p:sldId id="260" r:id="rId8"/>
    <p:sldId id="266" r:id="rId9"/>
    <p:sldId id="267" r:id="rId10"/>
    <p:sldId id="268" r:id="rId11"/>
    <p:sldId id="271" r:id="rId12"/>
    <p:sldId id="272" r:id="rId13"/>
    <p:sldId id="274" r:id="rId14"/>
    <p:sldId id="286" r:id="rId15"/>
    <p:sldId id="287" r:id="rId16"/>
    <p:sldId id="290" r:id="rId17"/>
    <p:sldId id="283" r:id="rId18"/>
    <p:sldId id="301" r:id="rId19"/>
    <p:sldId id="305" r:id="rId20"/>
    <p:sldId id="303" r:id="rId21"/>
    <p:sldId id="304" r:id="rId22"/>
    <p:sldId id="298" r:id="rId23"/>
    <p:sldId id="299" r:id="rId24"/>
    <p:sldId id="300" r:id="rId25"/>
    <p:sldId id="280" r:id="rId26"/>
  </p:sldIdLst>
  <p:sldSz cx="12192000" cy="6858000"/>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p:restoredTop sz="94660"/>
  </p:normalViewPr>
  <p:slideViewPr>
    <p:cSldViewPr snapToGrid="0" showGuides="1">
      <p:cViewPr varScale="1">
        <p:scale>
          <a:sx n="59" d="100"/>
          <a:sy n="59" d="100"/>
        </p:scale>
        <p:origin x="96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A97B7191-CA2A-4904-8DC1-B179BB946CEB}"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en-US" altLang="en-US" sz="1200" dirty="0">
                <a:latin typeface="Calibri" panose="020F0502020204030204" pitchFamily="34" charset="0"/>
              </a:rPr>
            </a:fld>
            <a:endParaRPr lang="en-US"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3074" name="Picture 2" descr="\\DROBO-FS\QuickDrops\JB\PPTX NG\Droplets\LightingOverlay.png"/>
          <p:cNvPicPr>
            <a:picLocks noChangeAspect="1"/>
          </p:cNvPicPr>
          <p:nvPr/>
        </p:nvPicPr>
        <p:blipFill>
          <a:blip r:embed="rId3"/>
          <a:stretch>
            <a:fillRect/>
          </a:stretch>
        </p:blipFill>
        <p:spPr>
          <a:xfrm>
            <a:off x="0" y="0"/>
            <a:ext cx="12192000" cy="6858000"/>
          </a:xfrm>
          <a:prstGeom prst="rect">
            <a:avLst/>
          </a:prstGeom>
          <a:noFill/>
          <a:ln w="9525">
            <a:noFill/>
          </a:ln>
        </p:spPr>
      </p:pic>
      <p:sp>
        <p:nvSpPr>
          <p:cNvPr id="2" name="Title 1"/>
          <p:cNvSpPr>
            <a:spLocks noGrp="1"/>
          </p:cNvSpPr>
          <p:nvPr>
            <p:ph type="ctrTitle"/>
          </p:nvPr>
        </p:nvSpPr>
        <p:spPr>
          <a:xfrm>
            <a:off x="1876424" y="1122363"/>
            <a:ext cx="8791575" cy="2387600"/>
          </a:xfrm>
        </p:spPr>
        <p:txBody>
          <a:bodyPr anchor="b"/>
          <a:lstStyle>
            <a:lvl1pPr algn="l">
              <a:defRPr sz="4800"/>
            </a:lvl1pPr>
          </a:lstStyle>
          <a:p>
            <a:r>
              <a:rPr lang="en-US"/>
              <a:t>Click to edit Master title style</a:t>
            </a:r>
            <a:endParaRPr lang="en-US"/>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grpSp>
        <p:nvGrpSpPr>
          <p:cNvPr id="9"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 name="Rectangle 9"/>
            <p:cNvSpPr>
              <a:spLocks noChangeArrowheads="1"/>
            </p:cNvSpPr>
            <p:nvPr/>
          </p:nvSpPr>
          <p:spPr bwMode="auto">
            <a:xfrm>
              <a:off x="1209675" y="4763"/>
              <a:ext cx="23813" cy="2181225"/>
            </a:xfrm>
            <a:prstGeom prst="rect">
              <a:avLst/>
            </a:prstGeom>
            <a:grpFill/>
            <a:ln>
              <a:noFill/>
            </a:ln>
          </p:spPr>
        </p:sp>
        <p:sp>
          <p:nvSpPr>
            <p:cNvPr id="48" name="Freeform 50"/>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49" name="Freeform 51"/>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50" name="Rectangle 49"/>
            <p:cNvSpPr>
              <a:spLocks noChangeArrowheads="1"/>
            </p:cNvSpPr>
            <p:nvPr/>
          </p:nvSpPr>
          <p:spPr bwMode="auto">
            <a:xfrm>
              <a:off x="414338" y="9525"/>
              <a:ext cx="28575" cy="4481513"/>
            </a:xfrm>
            <a:prstGeom prst="rect">
              <a:avLst/>
            </a:prstGeom>
            <a:grpFill/>
            <a:ln>
              <a:noFill/>
            </a:ln>
          </p:spPr>
        </p:sp>
        <p:sp>
          <p:nvSpPr>
            <p:cNvPr id="51" name="Freeform 53"/>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52" name="Freeform 54"/>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53" name="Freeform 55"/>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54" name="Freeform 56"/>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5" name="Freeform 57"/>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56" name="Freeform 58"/>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57" name="Freeform 59"/>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58" name="Freeform 60"/>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59" name="Freeform 61"/>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60" name="Freeform 62"/>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61" name="Freeform 63"/>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62" name="Freeform 64"/>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63" name="Freeform 65"/>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24" name="Freeform 66"/>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1025" name="Freeform 67"/>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1028" name="Freeform 68"/>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1030" name="Freeform 69"/>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1031" name="Freeform 70"/>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32" name="Freeform 71"/>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1033" name="Freeform 72"/>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34" name="Freeform 73"/>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1035" name="Freeform 74"/>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36" name="Freeform 75"/>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1037" name="Freeform 76"/>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38" name="Rectangle 1037"/>
            <p:cNvSpPr>
              <a:spLocks noChangeArrowheads="1"/>
            </p:cNvSpPr>
            <p:nvPr/>
          </p:nvSpPr>
          <p:spPr bwMode="auto">
            <a:xfrm>
              <a:off x="642938" y="6610350"/>
              <a:ext cx="23813" cy="242888"/>
            </a:xfrm>
            <a:prstGeom prst="rect">
              <a:avLst/>
            </a:prstGeom>
            <a:grpFill/>
            <a:ln>
              <a:noFill/>
            </a:ln>
          </p:spPr>
        </p:sp>
        <p:sp>
          <p:nvSpPr>
            <p:cNvPr id="1039" name="Freeform 78"/>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0" name="Freeform 79"/>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1041" name="Freeform 80"/>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1042" name="Freeform 81"/>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43" name="Freeform 82"/>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44" name="Freeform 83"/>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5" name="Freeform 84"/>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6" name="Freeform 85"/>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7" name="Freeform 86"/>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48" name="Freeform 87"/>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49" name="Freeform 88"/>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50" name="Rectangle 1049"/>
            <p:cNvSpPr>
              <a:spLocks noChangeArrowheads="1"/>
            </p:cNvSpPr>
            <p:nvPr/>
          </p:nvSpPr>
          <p:spPr bwMode="auto">
            <a:xfrm>
              <a:off x="1228725" y="4662488"/>
              <a:ext cx="23813" cy="2181225"/>
            </a:xfrm>
            <a:prstGeom prst="rect">
              <a:avLst/>
            </a:prstGeom>
            <a:grpFill/>
            <a:ln>
              <a:noFill/>
            </a:ln>
          </p:spPr>
        </p:sp>
        <p:sp>
          <p:nvSpPr>
            <p:cNvPr id="1051" name="Freeform 90"/>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52" name="Freeform 91"/>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53" name="Freeform 92"/>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054" name="Freeform 93"/>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55" name="Freeform 94"/>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56" name="Freeform 95"/>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057" name="Freeform 96"/>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58" name="Freeform 97"/>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59" name="Freeform 98"/>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60" name="Freeform 99"/>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061" name="Freeform 100"/>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062" name="Freeform 101"/>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063" name="Freeform 102"/>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1064" name="Date Placeholder 3"/>
          <p:cNvSpPr>
            <a:spLocks noGrp="1"/>
          </p:cNvSpPr>
          <p:nvPr>
            <p:ph type="dt" sz="half" idx="2"/>
          </p:nvPr>
        </p:nvSpPr>
        <p:spPr>
          <a:xfrm>
            <a:off x="7077075" y="5410200"/>
            <a:ext cx="2743200" cy="365125"/>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47FD5345-C61A-4098-983B-7F94E3768E1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065" name="Footer Placeholder 4"/>
          <p:cNvSpPr>
            <a:spLocks noGrp="1"/>
          </p:cNvSpPr>
          <p:nvPr>
            <p:ph type="ftr" sz="quarter" idx="3"/>
          </p:nvPr>
        </p:nvSpPr>
        <p:spPr>
          <a:xfrm>
            <a:off x="1876425" y="5410200"/>
            <a:ext cx="5124450"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1066" name="Slide Number Placeholder 5"/>
          <p:cNvSpPr>
            <a:spLocks noGrp="1"/>
          </p:cNvSpPr>
          <p:nvPr>
            <p:ph type="sldNum" sz="quarter" idx="4"/>
          </p:nvPr>
        </p:nvSpPr>
        <p:spPr>
          <a:xfrm>
            <a:off x="9896475" y="5410200"/>
            <a:ext cx="771525"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en-US" altLang="en-US" dirty="0">
                <a:latin typeface="Tw Cen MT" panose="020B0602020104020603" pitchFamily="34" charset="0"/>
              </a:rPr>
            </a:fld>
            <a:endParaRPr lang="en-US" altLang="en-US" dirty="0">
              <a:latin typeface="Tw Cen MT" panose="020B06020201040206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lstStyle>
            <a:lvl1pPr>
              <a:defRPr sz="3600"/>
            </a:lvl1pPr>
          </a:lstStyle>
          <a:p>
            <a:r>
              <a:rPr lang="en-US"/>
              <a:t>Click to edit Master title style</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lstStyle>
            <a:lvl1pPr>
              <a:defRPr sz="3200"/>
            </a:lvl1pPr>
          </a:lstStyle>
          <a:p>
            <a:r>
              <a:rPr lang="en-US"/>
              <a:t>Click to edit Master title style</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320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lstStyle>
            <a:lvl1pPr>
              <a:defRPr sz="3600"/>
            </a:lvl1pPr>
          </a:lstStyle>
          <a:p>
            <a:r>
              <a:rPr lang="en-US"/>
              <a:t>Click to edit Master title style</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903288" y="731838"/>
            <a:ext cx="609600" cy="585788"/>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457200" rtl="0" eaLnBrk="1" fontAlgn="auto" latinLnBrk="0" hangingPunct="1">
              <a:lnSpc>
                <a:spcPct val="100000"/>
              </a:lnSpc>
              <a:spcBef>
                <a:spcPct val="0"/>
              </a:spcBef>
              <a:spcAft>
                <a:spcPts val="0"/>
              </a:spcAft>
              <a:buClrTx/>
              <a:buSzTx/>
              <a:buFontTx/>
              <a:buNone/>
              <a:defRPr/>
            </a:pPr>
            <a:r>
              <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rPr>
              <a:t>“</a:t>
            </a:r>
            <a:endPar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endParaRPr>
          </a:p>
        </p:txBody>
      </p:sp>
      <p:sp>
        <p:nvSpPr>
          <p:cNvPr id="9" name="TextBox 8"/>
          <p:cNvSpPr txBox="1"/>
          <p:nvPr/>
        </p:nvSpPr>
        <p:spPr>
          <a:xfrm>
            <a:off x="10537825" y="2765425"/>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457200" rtl="0" eaLnBrk="1" fontAlgn="auto" latinLnBrk="0" hangingPunct="1">
              <a:lnSpc>
                <a:spcPct val="100000"/>
              </a:lnSpc>
              <a:spcBef>
                <a:spcPct val="0"/>
              </a:spcBef>
              <a:spcAft>
                <a:spcPts val="0"/>
              </a:spcAft>
              <a:buClrTx/>
              <a:buSzTx/>
              <a:buFontTx/>
              <a:buNone/>
              <a:defRPr/>
            </a:pPr>
            <a:r>
              <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rPr>
              <a:t>”</a:t>
            </a:r>
            <a:endPar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endParaRPr>
          </a:p>
        </p:txBody>
      </p:sp>
      <p:sp>
        <p:nvSpPr>
          <p:cNvPr id="2" name="Title 1"/>
          <p:cNvSpPr>
            <a:spLocks noGrp="1"/>
          </p:cNvSpPr>
          <p:nvPr>
            <p:ph type="title"/>
          </p:nvPr>
        </p:nvSpPr>
        <p:spPr>
          <a:xfrm>
            <a:off x="1446212" y="609599"/>
            <a:ext cx="9302752" cy="2748429"/>
          </a:xfrm>
        </p:spPr>
        <p:txBody>
          <a:bodyPr/>
          <a:lstStyle>
            <a:lvl1pPr>
              <a:defRPr sz="3600"/>
            </a:lvl1pPr>
          </a:lstStyle>
          <a:p>
            <a:r>
              <a:rPr lang="en-US"/>
              <a:t>Click to edit Master title style</a:t>
            </a:r>
            <a:endParaRPr lang="en-US"/>
          </a:p>
        </p:txBody>
      </p:sp>
      <p:sp>
        <p:nvSpPr>
          <p:cNvPr id="12" name="Text Placeholder 3"/>
          <p:cNvSpPr>
            <a:spLocks noGrp="1"/>
          </p:cNvSpPr>
          <p:nvPr>
            <p:ph type="body" sz="half" idx="13"/>
          </p:nvPr>
        </p:nvSpPr>
        <p:spPr>
          <a:xfrm>
            <a:off x="1720644" y="3365557"/>
            <a:ext cx="8752299" cy="54896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10" name="Date Placeholder 4"/>
          <p:cNvSpPr>
            <a:spLocks noGrp="1"/>
          </p:cNvSpPr>
          <p:nvPr>
            <p:ph type="dt" sz="half" idx="12"/>
          </p:nvPr>
        </p:nvSpPr>
        <p:spPr>
          <a:xfrm>
            <a:off x="7456488" y="5883275"/>
            <a:ext cx="2743200" cy="365125"/>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26F7757-91CA-4722-8286-748500EF4A55}"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8" name="Footer Placeholder 5"/>
          <p:cNvSpPr>
            <a:spLocks noGrp="1"/>
          </p:cNvSpPr>
          <p:nvPr>
            <p:ph type="ftr" sz="quarter" idx="3"/>
          </p:nvPr>
        </p:nvSpPr>
        <p:spPr>
          <a:xfrm>
            <a:off x="1141413" y="5883275"/>
            <a:ext cx="6238875"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9" name="Slide Number Placeholder 6"/>
          <p:cNvSpPr>
            <a:spLocks noGrp="1"/>
          </p:cNvSpPr>
          <p:nvPr>
            <p:ph type="sldNum" sz="quarter" idx="4"/>
          </p:nvPr>
        </p:nvSpPr>
        <p:spPr>
          <a:xfrm>
            <a:off x="10275888" y="5883275"/>
            <a:ext cx="771525"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en-US" altLang="en-US" dirty="0">
                <a:latin typeface="Tw Cen MT" panose="020B0602020104020603" pitchFamily="34" charset="0"/>
              </a:rPr>
            </a:fld>
            <a:endParaRPr lang="en-US" altLang="en-US" dirty="0">
              <a:latin typeface="Tw Cen MT" panose="020B0602020104020603"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lstStyle>
            <a:lvl1pPr>
              <a:defRPr sz="3600"/>
            </a:lvl1pPr>
          </a:lstStyle>
          <a:p>
            <a:r>
              <a:rPr lang="en-US"/>
              <a:t>Click to edit Master title style</a:t>
            </a:r>
            <a:endParaRPr lang="en-US"/>
          </a:p>
        </p:txBody>
      </p:sp>
      <p:sp>
        <p:nvSpPr>
          <p:cNvPr id="4" name="Text Placeholder 3"/>
          <p:cNvSpPr>
            <a:spLocks noGrp="1"/>
          </p:cNvSpPr>
          <p:nvPr>
            <p:ph type="body" sz="half" idx="2"/>
          </p:nvPr>
        </p:nvSpPr>
        <p:spPr>
          <a:xfrm>
            <a:off x="1141364" y="4657655"/>
            <a:ext cx="9904505" cy="11406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8" name="Text Placeholder 3"/>
          <p:cNvSpPr>
            <a:spLocks noGrp="1"/>
          </p:cNvSpPr>
          <p:nvPr>
            <p:ph type="body" sz="half" idx="15"/>
          </p:nvPr>
        </p:nvSpPr>
        <p:spPr>
          <a:xfrm>
            <a:off x="1127918" y="3360263"/>
            <a:ext cx="3208735" cy="2430936"/>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 name="Text Placeholder 3"/>
          <p:cNvSpPr>
            <a:spLocks noGrp="1"/>
          </p:cNvSpPr>
          <p:nvPr>
            <p:ph type="body" sz="half" idx="16"/>
          </p:nvPr>
        </p:nvSpPr>
        <p:spPr>
          <a:xfrm>
            <a:off x="4504213" y="3363435"/>
            <a:ext cx="3195830" cy="2430936"/>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2" name="Text Placeholder 3"/>
          <p:cNvSpPr>
            <a:spLocks noGrp="1"/>
          </p:cNvSpPr>
          <p:nvPr>
            <p:ph type="body" sz="half" idx="17"/>
          </p:nvPr>
        </p:nvSpPr>
        <p:spPr>
          <a:xfrm>
            <a:off x="7852442" y="3360263"/>
            <a:ext cx="3194968" cy="2430936"/>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 name="Date Placeholder 1"/>
          <p:cNvSpPr>
            <a:spLocks noGrp="1"/>
          </p:cNvSpPr>
          <p:nvPr>
            <p:ph type="dt" sz="half" idx="18"/>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9"/>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20"/>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2000" dirty="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20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21" name="Text Placeholder 3"/>
          <p:cNvSpPr>
            <a:spLocks noGrp="1"/>
          </p:cNvSpPr>
          <p:nvPr>
            <p:ph type="body" sz="half" idx="18"/>
          </p:nvPr>
        </p:nvSpPr>
        <p:spPr>
          <a:xfrm>
            <a:off x="1141413" y="4980858"/>
            <a:ext cx="3195240" cy="817843"/>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2000" dirty="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20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24" name="Text Placeholder 3"/>
          <p:cNvSpPr>
            <a:spLocks noGrp="1"/>
          </p:cNvSpPr>
          <p:nvPr>
            <p:ph type="body" sz="half" idx="19"/>
          </p:nvPr>
        </p:nvSpPr>
        <p:spPr>
          <a:xfrm>
            <a:off x="4487593" y="4980857"/>
            <a:ext cx="3200400" cy="81034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2000" dirty="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20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27" name="Text Placeholder 3"/>
          <p:cNvSpPr>
            <a:spLocks noGrp="1"/>
          </p:cNvSpPr>
          <p:nvPr>
            <p:ph type="body" sz="half" idx="20"/>
          </p:nvPr>
        </p:nvSpPr>
        <p:spPr>
          <a:xfrm>
            <a:off x="7852442" y="4980854"/>
            <a:ext cx="3194968" cy="810345"/>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 name="Date Placeholder 1"/>
          <p:cNvSpPr>
            <a:spLocks noGrp="1"/>
          </p:cNvSpPr>
          <p:nvPr>
            <p:ph type="dt" sz="half" idx="23"/>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24"/>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25"/>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2" Type="http://schemas.openxmlformats.org/officeDocument/2006/relationships/theme" Target="../theme/theme2.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p:pic>
        <p:nvPicPr>
          <p:cNvPr id="1026" name="Picture 2" descr="\\DROBO-FS\QuickDrops\JB\PPTX NG\Droplets\LightingOverlay.png"/>
          <p:cNvPicPr>
            <a:picLocks noChangeAspect="1"/>
          </p:cNvPicPr>
          <p:nvPr/>
        </p:nvPicPr>
        <p:blipFill>
          <a:blip r:embed="rId19"/>
          <a:stretch>
            <a:fillRect/>
          </a:stretch>
        </p:blipFill>
        <p:spPr>
          <a:xfrm>
            <a:off x="0" y="0"/>
            <a:ext cx="12192000" cy="6858000"/>
          </a:xfrm>
          <a:prstGeom prst="rect">
            <a:avLst/>
          </a:prstGeom>
          <a:noFill/>
          <a:ln w="9525">
            <a:noFill/>
          </a:ln>
        </p:spPr>
      </p:pic>
      <p:grpSp>
        <p:nvGrpSpPr>
          <p:cNvPr id="1027" name="Group 7"/>
          <p:cNvGrpSpPr/>
          <p:nvPr/>
        </p:nvGrpSpPr>
        <p:grpSpPr>
          <a:xfrm>
            <a:off x="-14287" y="0"/>
            <a:ext cx="12053887" cy="6858000"/>
            <a:chOff x="-14288" y="0"/>
            <a:chExt cx="12053888" cy="6858001"/>
          </a:xfrm>
        </p:grpSpPr>
        <p:grpSp>
          <p:nvGrpSpPr>
            <p:cNvPr id="7"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37" name="Rectangle 21"/>
              <p:cNvSpPr>
                <a:spLocks noChangeArrowheads="1"/>
              </p:cNvSpPr>
              <p:nvPr/>
            </p:nvSpPr>
            <p:spPr bwMode="auto">
              <a:xfrm>
                <a:off x="133350" y="4662488"/>
                <a:ext cx="23813" cy="2181225"/>
              </a:xfrm>
              <a:prstGeom prst="rect">
                <a:avLst/>
              </a:prstGeom>
              <a:grpFill/>
              <a:ln>
                <a:noFill/>
              </a:ln>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8"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0" name="Rectangle 41"/>
              <p:cNvSpPr>
                <a:spLocks noChangeArrowheads="1"/>
              </p:cNvSpPr>
              <p:nvPr/>
            </p:nvSpPr>
            <p:spPr bwMode="auto">
              <a:xfrm>
                <a:off x="11939587" y="6596063"/>
                <a:ext cx="23813" cy="252413"/>
              </a:xfrm>
              <a:prstGeom prst="rect">
                <a:avLst/>
              </a:prstGeom>
              <a:grpFill/>
              <a:ln>
                <a:noFill/>
              </a:ln>
            </p:spPr>
          </p:sp>
        </p:grpSp>
      </p:grpSp>
      <p:sp>
        <p:nvSpPr>
          <p:cNvPr id="2" name="Title Placeholder 1"/>
          <p:cNvSpPr>
            <a:spLocks noGrp="1"/>
          </p:cNvSpPr>
          <p:nvPr>
            <p:ph type="title"/>
          </p:nvPr>
        </p:nvSpPr>
        <p:spPr>
          <a:xfrm>
            <a:off x="1141413" y="619125"/>
            <a:ext cx="9906000" cy="1477963"/>
          </a:xfrm>
          <a:prstGeom prst="rect">
            <a:avLst/>
          </a:prstGeom>
        </p:spPr>
        <p:txBody>
          <a:bodyPr vert="horz" lIns="91440" tIns="45720" rIns="91440" bIns="45720" rtlCol="0" anchor="ctr">
            <a:normAutofit/>
          </a:bodyPr>
          <a:lstStyle/>
          <a:p>
            <a:endParaRPr lang="en-US"/>
          </a:p>
        </p:txBody>
      </p:sp>
      <p:sp>
        <p:nvSpPr>
          <p:cNvPr id="1029" name="Text Placeholder 2"/>
          <p:cNvSpPr>
            <a:spLocks noGrp="1"/>
          </p:cNvSpPr>
          <p:nvPr>
            <p:ph type="body" idx="1"/>
          </p:nvPr>
        </p:nvSpPr>
        <p:spPr>
          <a:xfrm>
            <a:off x="1141413" y="2249488"/>
            <a:ext cx="9906000" cy="3541712"/>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7456488" y="5883275"/>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chemeClr val="tx1">
                    <a:tint val="75000"/>
                  </a:schemeClr>
                </a:solidFill>
                <a:latin typeface="+mn-lt"/>
                <a:cs typeface="+mn-cs"/>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D35991B-FDD7-4B90-B4BF-48BB0FFBEC79}" type="datetime1">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1141413" y="5883275"/>
            <a:ext cx="6238875" cy="365125"/>
          </a:xfrm>
          <a:prstGeom prst="rect">
            <a:avLst/>
          </a:prstGeom>
        </p:spPr>
        <p:txBody>
          <a:bodyPr vert="horz" lIns="91440" tIns="45720" rIns="91440" bIns="45720" rtlCol="0" anchor="ctr"/>
          <a:lstStyle>
            <a:lvl1pPr algn="l" eaLnBrk="1" fontAlgn="auto" hangingPunct="1">
              <a:spcBef>
                <a:spcPts val="0"/>
              </a:spcBef>
              <a:spcAft>
                <a:spcPts val="0"/>
              </a:spcAft>
              <a:defRPr sz="1050" cap="all" baseline="0">
                <a:solidFill>
                  <a:schemeClr val="tx1">
                    <a:tint val="75000"/>
                  </a:schemeClr>
                </a:solidFill>
                <a:latin typeface="+mn-lt"/>
                <a:cs typeface="+mn-cs"/>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10275888" y="5883275"/>
            <a:ext cx="771525" cy="365125"/>
          </a:xfrm>
          <a:prstGeom prst="rect">
            <a:avLst/>
          </a:prstGeom>
        </p:spPr>
        <p:txBody>
          <a:bodyPr vert="horz" wrap="square" lIns="91440" tIns="45720" rIns="91440" bIns="45720" numCol="1" anchor="ctr" anchorCtr="0" compatLnSpc="1"/>
          <a:lstStyle>
            <a:lvl1pPr algn="r">
              <a:defRPr sz="1000">
                <a:solidFill>
                  <a:srgbClr val="898989"/>
                </a:solidFill>
                <a:latin typeface="Tw Cen MT" panose="020B0602020104020603"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rtl="0" eaLnBrk="0" fontAlgn="base" hangingPunct="0">
        <a:lnSpc>
          <a:spcPct val="90000"/>
        </a:lnSpc>
        <a:spcBef>
          <a:spcPct val="0"/>
        </a:spcBef>
        <a:spcAft>
          <a:spcPct val="0"/>
        </a:spcAft>
        <a:defRPr sz="3600" kern="1200" cap="all">
          <a:solidFill>
            <a:schemeClr val="tx1"/>
          </a:solidFill>
          <a:latin typeface="+mj-lt"/>
          <a:ea typeface="+mj-ea"/>
          <a:cs typeface="+mj-cs"/>
        </a:defRPr>
      </a:lvl1pPr>
      <a:lvl2pPr algn="l" rtl="0" eaLnBrk="0" fontAlgn="base" hangingPunct="0">
        <a:lnSpc>
          <a:spcPct val="90000"/>
        </a:lnSpc>
        <a:spcBef>
          <a:spcPct val="0"/>
        </a:spcBef>
        <a:spcAft>
          <a:spcPct val="0"/>
        </a:spcAft>
        <a:defRPr sz="3600">
          <a:solidFill>
            <a:schemeClr val="tx1"/>
          </a:solidFill>
          <a:latin typeface="Tw Cen MT" panose="020B0602020104020603" pitchFamily="34" charset="0"/>
        </a:defRPr>
      </a:lvl2pPr>
      <a:lvl3pPr algn="l" rtl="0" eaLnBrk="0" fontAlgn="base" hangingPunct="0">
        <a:lnSpc>
          <a:spcPct val="90000"/>
        </a:lnSpc>
        <a:spcBef>
          <a:spcPct val="0"/>
        </a:spcBef>
        <a:spcAft>
          <a:spcPct val="0"/>
        </a:spcAft>
        <a:defRPr sz="3600">
          <a:solidFill>
            <a:schemeClr val="tx1"/>
          </a:solidFill>
          <a:latin typeface="Tw Cen MT" panose="020B0602020104020603" pitchFamily="34" charset="0"/>
        </a:defRPr>
      </a:lvl3pPr>
      <a:lvl4pPr algn="l" rtl="0" eaLnBrk="0" fontAlgn="base" hangingPunct="0">
        <a:lnSpc>
          <a:spcPct val="90000"/>
        </a:lnSpc>
        <a:spcBef>
          <a:spcPct val="0"/>
        </a:spcBef>
        <a:spcAft>
          <a:spcPct val="0"/>
        </a:spcAft>
        <a:defRPr sz="3600">
          <a:solidFill>
            <a:schemeClr val="tx1"/>
          </a:solidFill>
          <a:latin typeface="Tw Cen MT" panose="020B0602020104020603" pitchFamily="34" charset="0"/>
        </a:defRPr>
      </a:lvl4pPr>
      <a:lvl5pPr algn="l" rtl="0" eaLnBrk="0" fontAlgn="base" hangingPunct="0">
        <a:lnSpc>
          <a:spcPct val="90000"/>
        </a:lnSpc>
        <a:spcBef>
          <a:spcPct val="0"/>
        </a:spcBef>
        <a:spcAft>
          <a:spcPct val="0"/>
        </a:spcAft>
        <a:defRPr sz="3600">
          <a:solidFill>
            <a:schemeClr val="tx1"/>
          </a:solidFill>
          <a:latin typeface="Tw Cen MT" panose="020B0602020104020603" pitchFamily="34" charset="0"/>
        </a:defRPr>
      </a:lvl5pPr>
      <a:lvl6pPr marL="457200" algn="l" rtl="0" fontAlgn="base">
        <a:lnSpc>
          <a:spcPct val="90000"/>
        </a:lnSpc>
        <a:spcBef>
          <a:spcPct val="0"/>
        </a:spcBef>
        <a:spcAft>
          <a:spcPct val="0"/>
        </a:spcAft>
        <a:defRPr sz="3600">
          <a:solidFill>
            <a:schemeClr val="tx1"/>
          </a:solidFill>
          <a:latin typeface="Tw Cen MT" panose="020B0602020104020603" pitchFamily="34" charset="0"/>
        </a:defRPr>
      </a:lvl6pPr>
      <a:lvl7pPr marL="914400" algn="l" rtl="0" fontAlgn="base">
        <a:lnSpc>
          <a:spcPct val="90000"/>
        </a:lnSpc>
        <a:spcBef>
          <a:spcPct val="0"/>
        </a:spcBef>
        <a:spcAft>
          <a:spcPct val="0"/>
        </a:spcAft>
        <a:defRPr sz="3600">
          <a:solidFill>
            <a:schemeClr val="tx1"/>
          </a:solidFill>
          <a:latin typeface="Tw Cen MT" panose="020B0602020104020603" pitchFamily="34" charset="0"/>
        </a:defRPr>
      </a:lvl7pPr>
      <a:lvl8pPr marL="1371600" algn="l" rtl="0" fontAlgn="base">
        <a:lnSpc>
          <a:spcPct val="90000"/>
        </a:lnSpc>
        <a:spcBef>
          <a:spcPct val="0"/>
        </a:spcBef>
        <a:spcAft>
          <a:spcPct val="0"/>
        </a:spcAft>
        <a:defRPr sz="3600">
          <a:solidFill>
            <a:schemeClr val="tx1"/>
          </a:solidFill>
          <a:latin typeface="Tw Cen MT" panose="020B0602020104020603" pitchFamily="34" charset="0"/>
        </a:defRPr>
      </a:lvl8pPr>
      <a:lvl9pPr marL="1828800" algn="l" rtl="0" fontAlgn="base">
        <a:lnSpc>
          <a:spcPct val="90000"/>
        </a:lnSpc>
        <a:spcBef>
          <a:spcPct val="0"/>
        </a:spcBef>
        <a:spcAft>
          <a:spcPct val="0"/>
        </a:spcAft>
        <a:defRPr sz="3600">
          <a:solidFill>
            <a:schemeClr val="tx1"/>
          </a:solidFill>
          <a:latin typeface="Tw Cen MT" panose="020B0602020104020603" pitchFamily="34" charset="0"/>
        </a:defRPr>
      </a:lvl9pPr>
    </p:titleStyle>
    <p:body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Title Placeholder 1"/>
          <p:cNvSpPr>
            <a:spLocks noGrp="1"/>
          </p:cNvSpPr>
          <p:nvPr>
            <p:ph type="title"/>
          </p:nvPr>
        </p:nvSpPr>
        <p:spPr>
          <a:xfrm>
            <a:off x="838200" y="365125"/>
            <a:ext cx="10515600" cy="1325563"/>
          </a:xfrm>
          <a:prstGeom prst="rect">
            <a:avLst/>
          </a:prstGeom>
          <a:noFill/>
          <a:ln w="9525">
            <a:noFill/>
          </a:ln>
        </p:spPr>
        <p:txBody>
          <a:bodyPr anchor="ctr" anchorCtr="0"/>
          <a:p>
            <a:pPr lvl="0"/>
            <a:r>
              <a:rPr lang="en-US" altLang="en-US" dirty="0"/>
              <a:t>Click to edit Master title style</a:t>
            </a:r>
            <a:endParaRPr lang="en-IN" altLang="en-US" dirty="0"/>
          </a:p>
        </p:txBody>
      </p:sp>
      <p:sp>
        <p:nvSpPr>
          <p:cNvPr id="2051" name="Text Placeholder 2"/>
          <p:cNvSpPr>
            <a:spLocks noGrp="1"/>
          </p:cNvSpPr>
          <p:nvPr>
            <p:ph type="body" idx="1"/>
          </p:nvPr>
        </p:nvSpPr>
        <p:spPr>
          <a:xfrm>
            <a:off x="838200" y="1825625"/>
            <a:ext cx="10515600" cy="4351338"/>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457200" rtl="0" eaLnBrk="1" fontAlgn="auto" latinLnBrk="0" hangingPunct="1">
              <a:lnSpc>
                <a:spcPct val="100000"/>
              </a:lnSpc>
              <a:spcBef>
                <a:spcPts val="0"/>
              </a:spcBef>
              <a:spcAft>
                <a:spcPts val="0"/>
              </a:spcAft>
              <a:buClrTx/>
              <a:buSzTx/>
              <a:buFontTx/>
              <a:buNone/>
              <a:defRPr/>
            </a:pPr>
            <a:fld id="{E939AAAC-3D6B-4007-994F-4C022459A2C5}"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mailto:NKEA-Agriculture@pemandu.gov.my"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descr="CMR Engineering College , Hyderabad, Telangana, India – Approved by AICTE, New Delhi and Affiliated to JNT University Hyderabad"/>
          <p:cNvPicPr>
            <a:picLocks noChangeAspect="1"/>
          </p:cNvPicPr>
          <p:nvPr/>
        </p:nvPicPr>
        <p:blipFill>
          <a:blip r:embed="rId1"/>
          <a:stretch>
            <a:fillRect/>
          </a:stretch>
        </p:blipFill>
        <p:spPr>
          <a:xfrm>
            <a:off x="0" y="57150"/>
            <a:ext cx="10575925" cy="1700213"/>
          </a:xfrm>
          <a:prstGeom prst="rect">
            <a:avLst/>
          </a:prstGeom>
          <a:noFill/>
          <a:ln w="9525">
            <a:noFill/>
          </a:ln>
        </p:spPr>
      </p:pic>
      <p:pic>
        <p:nvPicPr>
          <p:cNvPr id="6147" name="Picture 2"/>
          <p:cNvPicPr>
            <a:picLocks noChangeAspect="1"/>
          </p:cNvPicPr>
          <p:nvPr/>
        </p:nvPicPr>
        <p:blipFill>
          <a:blip r:embed="rId2"/>
          <a:stretch>
            <a:fillRect/>
          </a:stretch>
        </p:blipFill>
        <p:spPr>
          <a:xfrm>
            <a:off x="10575925" y="23813"/>
            <a:ext cx="1603375" cy="1619250"/>
          </a:xfrm>
          <a:prstGeom prst="rect">
            <a:avLst/>
          </a:prstGeom>
          <a:noFill/>
          <a:ln w="9525">
            <a:noFill/>
          </a:ln>
        </p:spPr>
      </p:pic>
      <p:sp>
        <p:nvSpPr>
          <p:cNvPr id="5" name="TextBox 4"/>
          <p:cNvSpPr txBox="1"/>
          <p:nvPr/>
        </p:nvSpPr>
        <p:spPr>
          <a:xfrm>
            <a:off x="3048000" y="1746250"/>
            <a:ext cx="6094413" cy="400050"/>
          </a:xfrm>
          <a:prstGeom prst="rect">
            <a:avLst/>
          </a:prstGeom>
          <a:noFill/>
        </p:spPr>
        <p:txBody>
          <a:bodyPr>
            <a:spAutoFit/>
          </a:bodyPr>
          <a:lstStyle/>
          <a:p>
            <a:pPr marR="0" algn="ctr" defTabSz="457200" eaLnBrk="1" fontAlgn="auto" hangingPunct="1">
              <a:spcBef>
                <a:spcPts val="0"/>
              </a:spcBef>
              <a:spcAft>
                <a:spcPts val="0"/>
              </a:spcAft>
              <a:buClrTx/>
              <a:buSzTx/>
              <a:buFontTx/>
              <a:buNone/>
              <a:defRPr/>
            </a:pPr>
            <a:r>
              <a:rPr kumimoji="0" lang="en-IN" sz="2000" b="1" kern="1200" cap="none" spc="0" normalizeH="0" baseline="0" noProof="0" dirty="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Department of Computer Science &amp; Engineering</a:t>
            </a:r>
            <a:endParaRPr kumimoji="0" lang="en-IN" sz="2000" b="1" kern="1200" cap="none" spc="0" normalizeH="0" baseline="0" noProof="0" dirty="0">
              <a:effectLst>
                <a:outerShdw blurRad="38100" dist="19050" dir="2700000" algn="tl" rotWithShape="0">
                  <a:schemeClr val="dk1">
                    <a:alpha val="40000"/>
                  </a:schemeClr>
                </a:outerShdw>
              </a:effectLst>
              <a:latin typeface="+mn-lt"/>
              <a:ea typeface="+mn-ea"/>
              <a:cs typeface="+mn-cs"/>
            </a:endParaRPr>
          </a:p>
        </p:txBody>
      </p:sp>
      <p:sp>
        <p:nvSpPr>
          <p:cNvPr id="6149" name="TextBox 6"/>
          <p:cNvSpPr txBox="1"/>
          <p:nvPr/>
        </p:nvSpPr>
        <p:spPr>
          <a:xfrm>
            <a:off x="1581150" y="2344738"/>
            <a:ext cx="8267700" cy="646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defTabSz="457200" eaLnBrk="1" hangingPunct="1">
              <a:lnSpc>
                <a:spcPct val="100000"/>
              </a:lnSpc>
              <a:spcBef>
                <a:spcPct val="0"/>
              </a:spcBef>
              <a:buFontTx/>
              <a:buNone/>
            </a:pPr>
            <a:r>
              <a:rPr lang="en-IN" altLang="en-US" sz="1800" b="1" dirty="0">
                <a:latin typeface="Times New Roman" panose="02020603050405020304" pitchFamily="18" charset="0"/>
                <a:cs typeface="Times New Roman" panose="02020603050405020304" pitchFamily="18" charset="0"/>
              </a:rPr>
              <a:t>    A Major Project Stage2 Presentation </a:t>
            </a:r>
            <a:endParaRPr lang="en-IN" altLang="en-US" sz="1800" b="1" dirty="0">
              <a:latin typeface="Times New Roman" panose="02020603050405020304" pitchFamily="18" charset="0"/>
              <a:cs typeface="Times New Roman" panose="02020603050405020304" pitchFamily="18" charset="0"/>
            </a:endParaRPr>
          </a:p>
          <a:p>
            <a:pPr marL="0" lvl="0" indent="0" algn="ctr" defTabSz="457200" eaLnBrk="1" hangingPunct="1">
              <a:lnSpc>
                <a:spcPct val="100000"/>
              </a:lnSpc>
              <a:spcBef>
                <a:spcPct val="0"/>
              </a:spcBef>
              <a:buFontTx/>
              <a:buNone/>
            </a:pPr>
            <a:r>
              <a:rPr lang="en-IN" altLang="en-US" sz="1800" b="1" dirty="0">
                <a:latin typeface="Times New Roman" panose="02020603050405020304" pitchFamily="18" charset="0"/>
                <a:cs typeface="Times New Roman" panose="02020603050405020304" pitchFamily="18" charset="0"/>
              </a:rPr>
              <a:t>          On</a:t>
            </a:r>
            <a:endParaRPr lang="en-IN" altLang="en-US" sz="1800" b="1" dirty="0">
              <a:latin typeface="Times New Roman" panose="02020603050405020304" pitchFamily="18" charset="0"/>
              <a:ea typeface="Calibri" panose="020F0502020204030204" pitchFamily="34" charset="0"/>
            </a:endParaRPr>
          </a:p>
        </p:txBody>
      </p:sp>
      <p:sp>
        <p:nvSpPr>
          <p:cNvPr id="6150" name="TextBox 7"/>
          <p:cNvSpPr txBox="1"/>
          <p:nvPr/>
        </p:nvSpPr>
        <p:spPr>
          <a:xfrm>
            <a:off x="0" y="3319463"/>
            <a:ext cx="12179300" cy="14779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defTabSz="457200" eaLnBrk="1" hangingPunct="1">
              <a:lnSpc>
                <a:spcPct val="100000"/>
              </a:lnSpc>
              <a:spcBef>
                <a:spcPct val="0"/>
              </a:spcBef>
              <a:buFontTx/>
              <a:buNone/>
            </a:pPr>
            <a:r>
              <a:rPr lang="en-IN" altLang="en-US" sz="2400" b="1" dirty="0">
                <a:latin typeface="Times New Roman" panose="02020603050405020304" pitchFamily="18" charset="0"/>
                <a:cs typeface="Times New Roman" panose="02020603050405020304" pitchFamily="18" charset="0"/>
              </a:rPr>
              <a:t>Agricultural Crop Recommendation Based</a:t>
            </a:r>
            <a:endParaRPr lang="en-IN" altLang="en-US" sz="2400" b="1" dirty="0">
              <a:latin typeface="Times New Roman" panose="02020603050405020304" pitchFamily="18" charset="0"/>
              <a:cs typeface="Times New Roman" panose="02020603050405020304" pitchFamily="18" charset="0"/>
            </a:endParaRPr>
          </a:p>
          <a:p>
            <a:pPr marL="0" lvl="0" indent="0" algn="ctr" defTabSz="457200" eaLnBrk="1" hangingPunct="1">
              <a:lnSpc>
                <a:spcPct val="100000"/>
              </a:lnSpc>
              <a:spcBef>
                <a:spcPct val="0"/>
              </a:spcBef>
              <a:buFontTx/>
              <a:buNone/>
            </a:pPr>
            <a:r>
              <a:rPr lang="en-IN" altLang="en-US" sz="2400" b="1" dirty="0">
                <a:latin typeface="Times New Roman" panose="02020603050405020304" pitchFamily="18" charset="0"/>
                <a:cs typeface="Times New Roman" panose="02020603050405020304" pitchFamily="18" charset="0"/>
              </a:rPr>
              <a:t>On</a:t>
            </a:r>
            <a:endParaRPr lang="en-IN" altLang="en-US" sz="2400" b="1" dirty="0">
              <a:latin typeface="Times New Roman" panose="02020603050405020304" pitchFamily="18" charset="0"/>
              <a:cs typeface="Times New Roman" panose="02020603050405020304" pitchFamily="18" charset="0"/>
            </a:endParaRPr>
          </a:p>
          <a:p>
            <a:pPr marL="0" lvl="0" indent="0" algn="ctr" defTabSz="457200" eaLnBrk="1" hangingPunct="1">
              <a:lnSpc>
                <a:spcPct val="100000"/>
              </a:lnSpc>
              <a:spcBef>
                <a:spcPct val="0"/>
              </a:spcBef>
              <a:buFontTx/>
              <a:buNone/>
            </a:pPr>
            <a:r>
              <a:rPr lang="en-IN" altLang="en-US" sz="2400" b="1" dirty="0">
                <a:latin typeface="Times New Roman" panose="02020603050405020304" pitchFamily="18" charset="0"/>
                <a:cs typeface="Times New Roman" panose="02020603050405020304" pitchFamily="18" charset="0"/>
              </a:rPr>
              <a:t>Productivity and Season</a:t>
            </a:r>
            <a:endParaRPr lang="en-IN" altLang="en-US" sz="2400" dirty="0">
              <a:latin typeface="Times New Roman" panose="02020603050405020304" pitchFamily="18" charset="0"/>
              <a:cs typeface="Times New Roman" panose="02020603050405020304" pitchFamily="18" charset="0"/>
            </a:endParaRPr>
          </a:p>
          <a:p>
            <a:pPr marL="0" lvl="0" indent="0" defTabSz="457200" eaLnBrk="1" hangingPunct="1">
              <a:lnSpc>
                <a:spcPct val="100000"/>
              </a:lnSpc>
              <a:spcBef>
                <a:spcPct val="0"/>
              </a:spcBef>
              <a:buFontTx/>
              <a:buNone/>
            </a:pPr>
            <a:endParaRPr lang="en-IN" altLang="en-US" sz="1800" dirty="0">
              <a:ea typeface="Arial" panose="020B0604020202020204" pitchFamily="34" charset="0"/>
            </a:endParaRPr>
          </a:p>
        </p:txBody>
      </p:sp>
      <p:sp>
        <p:nvSpPr>
          <p:cNvPr id="10" name="TextBox 9"/>
          <p:cNvSpPr txBox="1"/>
          <p:nvPr/>
        </p:nvSpPr>
        <p:spPr>
          <a:xfrm>
            <a:off x="457200" y="4987925"/>
            <a:ext cx="2319338" cy="1323975"/>
          </a:xfrm>
          <a:prstGeom prst="rect">
            <a:avLst/>
          </a:prstGeom>
          <a:noFill/>
        </p:spPr>
        <p:txBody>
          <a:bodyPr wrap="none">
            <a:spAutoFit/>
          </a:bodyPr>
          <a:lstStyle/>
          <a:p>
            <a:pPr marR="0" defTabSz="457200" eaLnBrk="1" fontAlgn="auto" hangingPunct="1">
              <a:spcBef>
                <a:spcPts val="0"/>
              </a:spcBef>
              <a:spcAft>
                <a:spcPts val="0"/>
              </a:spcAft>
              <a:buClrTx/>
              <a:buSzTx/>
              <a:buFontTx/>
              <a:buNone/>
              <a:defRPr/>
            </a:pPr>
            <a:r>
              <a:rPr kumimoji="0" lang="en-IN" sz="2000" b="1" kern="1200" cap="none" spc="0" normalizeH="0" baseline="0" noProof="0" dirty="0">
                <a:latin typeface="Times New Roman" panose="02020603050405020304" pitchFamily="18" charset="0"/>
                <a:ea typeface="+mn-ea"/>
                <a:cs typeface="Times New Roman" panose="02020603050405020304" pitchFamily="18" charset="0"/>
              </a:rPr>
              <a:t>Internal Guide</a:t>
            </a:r>
            <a:endParaRPr kumimoji="0" lang="en-IN" sz="20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fontAlgn="auto" hangingPunct="1">
              <a:spcBef>
                <a:spcPts val="0"/>
              </a:spcBef>
              <a:spcAft>
                <a:spcPts val="0"/>
              </a:spcAft>
              <a:buClrTx/>
              <a:buSzTx/>
              <a:buFontTx/>
              <a:buNone/>
              <a:defRPr/>
            </a:pPr>
            <a:r>
              <a:rPr kumimoji="0" lang="en-IN" sz="2000" b="1" kern="1200" cap="none" spc="-5" normalizeH="0" baseline="0" noProof="0" dirty="0" err="1">
                <a:latin typeface="Times New Roman" panose="02020603050405020304" pitchFamily="18" charset="0"/>
                <a:ea typeface="+mn-ea"/>
                <a:cs typeface="Times New Roman" panose="02020603050405020304" pitchFamily="18" charset="0"/>
              </a:rPr>
              <a:t>Mr.M.Prabhakar</a:t>
            </a:r>
            <a:r>
              <a:rPr kumimoji="0" lang="en-IN" sz="2000" b="1" kern="1200" cap="none" spc="-5" normalizeH="0" baseline="0" noProof="0" dirty="0">
                <a:latin typeface="Times New Roman" panose="02020603050405020304" pitchFamily="18" charset="0"/>
                <a:ea typeface="+mn-ea"/>
                <a:cs typeface="Times New Roman" panose="02020603050405020304" pitchFamily="18" charset="0"/>
              </a:rPr>
              <a:t>, </a:t>
            </a:r>
            <a:endParaRPr kumimoji="0" lang="en-IN" sz="2000" b="1" kern="1200" cap="none" spc="-5" normalizeH="0" baseline="0" noProof="0" dirty="0">
              <a:latin typeface="Times New Roman" panose="02020603050405020304" pitchFamily="18" charset="0"/>
              <a:ea typeface="+mn-ea"/>
              <a:cs typeface="Times New Roman" panose="02020603050405020304" pitchFamily="18" charset="0"/>
            </a:endParaRPr>
          </a:p>
          <a:p>
            <a:pPr marR="0" defTabSz="457200" eaLnBrk="1" fontAlgn="auto" hangingPunct="1">
              <a:spcBef>
                <a:spcPts val="0"/>
              </a:spcBef>
              <a:spcAft>
                <a:spcPts val="0"/>
              </a:spcAft>
              <a:buClrTx/>
              <a:buSzTx/>
              <a:buFontTx/>
              <a:buNone/>
              <a:defRPr/>
            </a:pPr>
            <a:r>
              <a:rPr kumimoji="0" lang="en-IN" sz="2000" b="1" kern="1200" cap="none" spc="0" normalizeH="0" baseline="0" noProof="0" dirty="0">
                <a:latin typeface="Times New Roman" panose="02020603050405020304" pitchFamily="18" charset="0"/>
                <a:ea typeface="+mn-ea"/>
                <a:cs typeface="Times New Roman" panose="02020603050405020304" pitchFamily="18" charset="0"/>
              </a:rPr>
              <a:t>Assistant Professor,</a:t>
            </a:r>
            <a:endParaRPr kumimoji="0" lang="en-IN" sz="20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fontAlgn="auto" hangingPunct="1">
              <a:spcBef>
                <a:spcPts val="0"/>
              </a:spcBef>
              <a:spcAft>
                <a:spcPts val="0"/>
              </a:spcAft>
              <a:buClrTx/>
              <a:buSzTx/>
              <a:buFontTx/>
              <a:buNone/>
              <a:defRPr/>
            </a:pPr>
            <a:r>
              <a:rPr kumimoji="0" lang="en-IN" sz="2000" b="1" kern="1200" cap="none" spc="0" normalizeH="0" baseline="0" noProof="0" dirty="0">
                <a:latin typeface="Times New Roman" panose="02020603050405020304" pitchFamily="18" charset="0"/>
                <a:ea typeface="+mn-ea"/>
                <a:cs typeface="Times New Roman" panose="02020603050405020304" pitchFamily="18" charset="0"/>
              </a:rPr>
              <a:t>Dept. of CSE.</a:t>
            </a:r>
            <a:endParaRPr kumimoji="0" lang="en-IN" sz="2000"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6152" name="object 6"/>
          <p:cNvSpPr txBox="1"/>
          <p:nvPr/>
        </p:nvSpPr>
        <p:spPr>
          <a:xfrm>
            <a:off x="7578725" y="5151438"/>
            <a:ext cx="4564063" cy="1362075"/>
          </a:xfrm>
          <a:prstGeom prst="rect">
            <a:avLst/>
          </a:prstGeom>
          <a:noFill/>
          <a:ln w="9525">
            <a:noFill/>
          </a:ln>
        </p:spPr>
        <p:txBody>
          <a:bodyPr lIns="0" tIns="12700" rIns="0" bIns="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12700" lvl="0" indent="0" defTabSz="457200" eaLnBrk="1" hangingPunct="1">
              <a:lnSpc>
                <a:spcPts val="1665"/>
              </a:lnSpc>
              <a:spcBef>
                <a:spcPts val="100"/>
              </a:spcBef>
              <a:buFontTx/>
              <a:buNone/>
            </a:pPr>
            <a:r>
              <a:rPr lang="en-US" altLang="en-US" sz="1800" b="1" dirty="0">
                <a:latin typeface="Times New Roman" panose="02020603050405020304" pitchFamily="18" charset="0"/>
                <a:cs typeface="Times New Roman" panose="02020603050405020304" pitchFamily="18" charset="0"/>
              </a:rPr>
              <a:t>By</a:t>
            </a:r>
            <a:endParaRPr lang="en-US" altLang="en-US" sz="1800" b="1" dirty="0">
              <a:latin typeface="Times New Roman" panose="02020603050405020304" pitchFamily="18" charset="0"/>
              <a:cs typeface="Times New Roman" panose="02020603050405020304" pitchFamily="18" charset="0"/>
            </a:endParaRPr>
          </a:p>
          <a:p>
            <a:pPr marL="12700" lvl="0" indent="0" defTabSz="457200" eaLnBrk="1" hangingPunct="1">
              <a:lnSpc>
                <a:spcPts val="1665"/>
              </a:lnSpc>
              <a:spcBef>
                <a:spcPts val="100"/>
              </a:spcBef>
              <a:buFontTx/>
              <a:buNone/>
            </a:pPr>
            <a:endParaRPr lang="en-IN" altLang="en-US" sz="1800" dirty="0">
              <a:latin typeface="Times New Roman" panose="02020603050405020304" pitchFamily="18" charset="0"/>
              <a:cs typeface="Times New Roman" panose="02020603050405020304" pitchFamily="18" charset="0"/>
            </a:endParaRPr>
          </a:p>
          <a:p>
            <a:pPr marL="12700" lvl="0" indent="0" algn="just" defTabSz="457200" eaLnBrk="1" hangingPunct="1">
              <a:lnSpc>
                <a:spcPts val="1650"/>
              </a:lnSpc>
              <a:spcBef>
                <a:spcPts val="65"/>
              </a:spcBef>
              <a:buFontTx/>
              <a:buNone/>
            </a:pPr>
            <a:r>
              <a:rPr lang="en-IN" altLang="en-US" sz="1800" b="1" dirty="0">
                <a:latin typeface="Times New Roman" panose="02020603050405020304" pitchFamily="18" charset="0"/>
                <a:cs typeface="Times New Roman" panose="02020603050405020304" pitchFamily="18" charset="0"/>
              </a:rPr>
              <a:t>P.Kamal kumar              :(218r1a05o1) </a:t>
            </a:r>
            <a:endParaRPr lang="en-IN" altLang="en-US" sz="1800" b="1" dirty="0">
              <a:latin typeface="Times New Roman" panose="02020603050405020304" pitchFamily="18" charset="0"/>
              <a:cs typeface="Times New Roman" panose="02020603050405020304" pitchFamily="18" charset="0"/>
            </a:endParaRPr>
          </a:p>
          <a:p>
            <a:pPr marL="12700" lvl="0" indent="0" algn="just" defTabSz="457200" eaLnBrk="1" hangingPunct="1">
              <a:lnSpc>
                <a:spcPts val="1650"/>
              </a:lnSpc>
              <a:spcBef>
                <a:spcPts val="65"/>
              </a:spcBef>
              <a:buFontTx/>
              <a:buNone/>
            </a:pPr>
            <a:r>
              <a:rPr lang="en-IN" altLang="en-US" sz="1800" b="1" dirty="0">
                <a:latin typeface="Times New Roman" panose="02020603050405020304" pitchFamily="18" charset="0"/>
                <a:cs typeface="Times New Roman" panose="02020603050405020304" pitchFamily="18" charset="0"/>
              </a:rPr>
              <a:t>S.Rajender                      :(218r1a05p3)</a:t>
            </a:r>
            <a:endParaRPr lang="en-IN" altLang="en-US" sz="1800" b="1" dirty="0">
              <a:latin typeface="Times New Roman" panose="02020603050405020304" pitchFamily="18" charset="0"/>
              <a:cs typeface="Times New Roman" panose="02020603050405020304" pitchFamily="18" charset="0"/>
            </a:endParaRPr>
          </a:p>
          <a:p>
            <a:pPr marL="12700" lvl="0" indent="0" algn="just" defTabSz="457200" eaLnBrk="1" hangingPunct="1">
              <a:lnSpc>
                <a:spcPts val="1650"/>
              </a:lnSpc>
              <a:spcBef>
                <a:spcPts val="65"/>
              </a:spcBef>
              <a:buFontTx/>
              <a:buNone/>
            </a:pPr>
            <a:r>
              <a:rPr lang="en-IN" altLang="en-US" sz="1800" b="1" dirty="0">
                <a:latin typeface="Times New Roman" panose="02020603050405020304" pitchFamily="18" charset="0"/>
                <a:cs typeface="Times New Roman" panose="02020603050405020304" pitchFamily="18" charset="0"/>
              </a:rPr>
              <a:t>B.Vidya Sagar Rao        :(218r1a05k3)</a:t>
            </a:r>
            <a:endParaRPr lang="en-US" altLang="en-US" sz="1800" dirty="0">
              <a:latin typeface="Times New Roman" panose="02020603050405020304" pitchFamily="18" charset="0"/>
              <a:cs typeface="Times New Roman" panose="02020603050405020304" pitchFamily="18" charset="0"/>
            </a:endParaRPr>
          </a:p>
          <a:p>
            <a:pPr marL="12700" lvl="0" indent="0" algn="just" defTabSz="457200" eaLnBrk="1" hangingPunct="1">
              <a:lnSpc>
                <a:spcPts val="1600"/>
              </a:lnSpc>
              <a:spcBef>
                <a:spcPct val="0"/>
              </a:spcBef>
              <a:buFontTx/>
              <a:buNone/>
            </a:pPr>
            <a:r>
              <a:rPr lang="en-IN" altLang="en-US" sz="1800" b="1" dirty="0">
                <a:latin typeface="Times New Roman" panose="02020603050405020304" pitchFamily="18" charset="0"/>
                <a:cs typeface="Times New Roman" panose="02020603050405020304" pitchFamily="18" charset="0"/>
              </a:rPr>
              <a:t>S.Ashmitha                     :(218r1a05o9)</a:t>
            </a:r>
            <a:endParaRPr lang="en-US" altLang="en-US" sz="1800" dirty="0">
              <a:latin typeface="Times New Roman" panose="02020603050405020304" pitchFamily="18" charset="0"/>
              <a:ea typeface="Times New Roman" panose="02020603050405020304" pitchFamily="18" charset="0"/>
            </a:endParaRPr>
          </a:p>
        </p:txBody>
      </p:sp>
      <p:sp>
        <p:nvSpPr>
          <p:cNvPr id="6153" name="TextBox 1"/>
          <p:cNvSpPr txBox="1"/>
          <p:nvPr/>
        </p:nvSpPr>
        <p:spPr>
          <a:xfrm>
            <a:off x="4632325" y="5826125"/>
            <a:ext cx="1719263"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defTabSz="457200">
              <a:lnSpc>
                <a:spcPct val="100000"/>
              </a:lnSpc>
              <a:spcBef>
                <a:spcPct val="0"/>
              </a:spcBef>
              <a:buFontTx/>
              <a:buNone/>
            </a:pPr>
            <a:r>
              <a:rPr lang="en-US" altLang="en-US" sz="1800" dirty="0">
                <a:latin typeface="Arial" panose="020B0604020202020204" pitchFamily="34" charset="0"/>
                <a:cs typeface="Arial" panose="020B0604020202020204" pitchFamily="34" charset="0"/>
              </a:rPr>
              <a:t>A.Y 2024-2025</a:t>
            </a:r>
            <a:endParaRPr lang="en-US" altLang="en-US" sz="1800" dirty="0">
              <a:latin typeface="Arial" panose="020B0604020202020204" pitchFamily="34" charset="0"/>
              <a:ea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287463" y="68263"/>
            <a:ext cx="3038475" cy="554038"/>
          </a:xfrm>
          <a:prstGeom prst="rect">
            <a:avLst/>
          </a:prstGeom>
          <a:noFill/>
        </p:spPr>
        <p:txBody>
          <a:bodyPr wrap="none">
            <a:spAutoFit/>
          </a:bodyPr>
          <a:lstStyle/>
          <a:p>
            <a:pPr marR="0" defTabSz="457200" eaLnBrk="1" fontAlgn="auto" hangingPunct="1">
              <a:spcBef>
                <a:spcPts val="0"/>
              </a:spcBef>
              <a:spcAft>
                <a:spcPts val="0"/>
              </a:spcAft>
              <a:buClrTx/>
              <a:buSzTx/>
              <a:buFontTx/>
              <a:buNone/>
              <a:defRPr/>
            </a:pPr>
            <a:r>
              <a:rPr kumimoji="0" lang="en-IN" sz="3000" b="1" kern="1200" cap="none" spc="-10" normalizeH="0" baseline="0" noProof="0" dirty="0">
                <a:latin typeface="Times New Roman" panose="02020603050405020304"/>
                <a:ea typeface="+mn-ea"/>
                <a:cs typeface="Times New Roman" panose="02020603050405020304"/>
              </a:rPr>
              <a:t>Tabl</a:t>
            </a:r>
            <a:r>
              <a:rPr kumimoji="0" lang="en-IN" sz="3000" b="1" kern="1200" cap="none" spc="0" normalizeH="0" baseline="0" noProof="0" dirty="0">
                <a:latin typeface="Times New Roman" panose="02020603050405020304"/>
                <a:ea typeface="+mn-ea"/>
                <a:cs typeface="Times New Roman" panose="02020603050405020304"/>
              </a:rPr>
              <a:t>e</a:t>
            </a:r>
            <a:r>
              <a:rPr kumimoji="0" lang="en-IN" sz="3000" b="1" kern="1200" cap="none" spc="-10" normalizeH="0" baseline="0" noProof="0" dirty="0">
                <a:latin typeface="Times New Roman" panose="02020603050405020304"/>
                <a:ea typeface="+mn-ea"/>
                <a:cs typeface="Times New Roman" panose="02020603050405020304"/>
              </a:rPr>
              <a:t> </a:t>
            </a:r>
            <a:r>
              <a:rPr kumimoji="0" lang="en-IN" sz="3000" b="1" kern="1200" cap="none" spc="0" normalizeH="0" baseline="0" noProof="0" dirty="0">
                <a:latin typeface="Times New Roman" panose="02020603050405020304"/>
                <a:ea typeface="+mn-ea"/>
                <a:cs typeface="Times New Roman" panose="02020603050405020304"/>
              </a:rPr>
              <a:t>of	</a:t>
            </a:r>
            <a:r>
              <a:rPr kumimoji="0" lang="en-IN" sz="3000" b="1" kern="1200" cap="none" spc="-5" normalizeH="0" baseline="0" noProof="0" dirty="0">
                <a:latin typeface="Times New Roman" panose="02020603050405020304"/>
                <a:ea typeface="+mn-ea"/>
                <a:cs typeface="Times New Roman" panose="02020603050405020304"/>
              </a:rPr>
              <a:t>Contents</a:t>
            </a:r>
            <a:endParaRPr kumimoji="0" lang="en-IN" sz="3000" b="1" kern="1200" cap="none" spc="0" normalizeH="0" baseline="0" noProof="0" dirty="0">
              <a:latin typeface="+mn-lt"/>
              <a:ea typeface="+mn-ea"/>
              <a:cs typeface="+mn-cs"/>
            </a:endParaRPr>
          </a:p>
        </p:txBody>
      </p:sp>
      <p:sp>
        <p:nvSpPr>
          <p:cNvPr id="5" name="TextBox 4"/>
          <p:cNvSpPr txBox="1"/>
          <p:nvPr/>
        </p:nvSpPr>
        <p:spPr>
          <a:xfrm>
            <a:off x="1287463" y="487363"/>
            <a:ext cx="4808538" cy="6370638"/>
          </a:xfrm>
          <a:prstGeom prst="rect">
            <a:avLst/>
          </a:prstGeom>
          <a:noFill/>
        </p:spPr>
        <p:txBody>
          <a:bodyPr>
            <a:spAutoFit/>
          </a:bodyPr>
          <a:lstStyle/>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5" normalizeH="0" baseline="0" noProof="0" dirty="0">
                <a:latin typeface="Times New Roman" panose="02020603050405020304" pitchFamily="18" charset="0"/>
                <a:ea typeface="+mn-ea"/>
                <a:cs typeface="Times New Roman" panose="02020603050405020304" pitchFamily="18" charset="0"/>
              </a:rPr>
              <a:t>Abstract</a:t>
            </a:r>
            <a:endParaRPr kumimoji="0" lang="en-IN" sz="2400" kern="1200" cap="none" spc="-5"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5" normalizeH="0" baseline="0" noProof="0" dirty="0">
                <a:latin typeface="Times New Roman" panose="02020603050405020304" pitchFamily="18" charset="0"/>
                <a:ea typeface="+mn-ea"/>
                <a:cs typeface="Times New Roman" panose="02020603050405020304" pitchFamily="18" charset="0"/>
              </a:rPr>
              <a:t>Introduction</a:t>
            </a:r>
            <a:endParaRPr kumimoji="0" lang="en-IN" sz="2400" kern="1200" cap="none" spc="-5"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10" normalizeH="0" baseline="0" noProof="0" dirty="0">
                <a:latin typeface="Times New Roman" panose="02020603050405020304" pitchFamily="18" charset="0"/>
                <a:ea typeface="+mn-ea"/>
                <a:cs typeface="Times New Roman" panose="02020603050405020304" pitchFamily="18" charset="0"/>
              </a:rPr>
              <a:t>Literature Survey</a:t>
            </a:r>
            <a:endParaRPr kumimoji="0" lang="en-IN" sz="2400" kern="1200" cap="none" spc="-1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Existing System</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Existing System with limitations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Proposed System</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Proposed System &amp; Advantages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Software Requirements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Hardware Requirements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UML Diagrams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System Architecture</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Testing Strategies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Test Cases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Screenshots of the project</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Conclusion</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Future Enhancements</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eaLnBrk="1" fontAlgn="auto" hangingPunct="1">
              <a:spcBef>
                <a:spcPts val="0"/>
              </a:spcBef>
              <a:spcAft>
                <a:spcPts val="0"/>
              </a:spcAft>
              <a:buClrTx/>
              <a:buSzTx/>
              <a:buFont typeface="Wingdings" panose="05000000000000000000" pitchFamily="2" charset="2"/>
              <a:buChar char="v"/>
              <a:defRPr/>
            </a:pPr>
            <a:r>
              <a:rPr kumimoji="0" lang="en-IN" sz="2400" kern="1200" cap="none" spc="0" normalizeH="0" baseline="0" noProof="0" dirty="0">
                <a:latin typeface="Times New Roman" panose="02020603050405020304" pitchFamily="18" charset="0"/>
                <a:ea typeface="+mn-ea"/>
                <a:cs typeface="Times New Roman" panose="02020603050405020304" pitchFamily="18" charset="0"/>
              </a:rPr>
              <a:t>Bibliography</a:t>
            </a:r>
            <a:endParaRPr kumimoji="0" lang="en-IN" sz="2400"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Box 1"/>
          <p:cNvSpPr txBox="1"/>
          <p:nvPr/>
        </p:nvSpPr>
        <p:spPr>
          <a:xfrm>
            <a:off x="1208088" y="284163"/>
            <a:ext cx="2095500" cy="708025"/>
          </a:xfrm>
          <a:prstGeom prst="rect">
            <a:avLst/>
          </a:prstGeom>
          <a:noFill/>
          <a:ln w="9525">
            <a:noFill/>
          </a:ln>
        </p:spPr>
        <p:txBody>
          <a:bodyPr wrap="none">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Abstract</a:t>
            </a:r>
            <a:endParaRPr lang="en-IN" altLang="en-US" sz="4000" b="1" dirty="0">
              <a:latin typeface="Times New Roman" panose="02020603050405020304" pitchFamily="18" charset="0"/>
              <a:ea typeface="Times New Roman" panose="02020603050405020304" pitchFamily="18" charset="0"/>
            </a:endParaRPr>
          </a:p>
        </p:txBody>
      </p:sp>
      <p:sp>
        <p:nvSpPr>
          <p:cNvPr id="8195" name="TextBox 2"/>
          <p:cNvSpPr txBox="1"/>
          <p:nvPr/>
        </p:nvSpPr>
        <p:spPr>
          <a:xfrm>
            <a:off x="612775" y="1128395"/>
            <a:ext cx="10182225" cy="5555615"/>
          </a:xfrm>
          <a:prstGeom prst="rect">
            <a:avLst/>
          </a:prstGeom>
          <a:noFill/>
          <a:ln w="9525">
            <a:noFill/>
          </a:ln>
        </p:spPr>
        <p:txBody>
          <a:bodyPr>
            <a:no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546100" lvl="0" indent="0" algn="just" defTabSz="457200" eaLnBrk="1" hangingPunct="1">
              <a:lnSpc>
                <a:spcPct val="150000"/>
              </a:lnSpc>
              <a:spcBef>
                <a:spcPts val="3715"/>
              </a:spcBef>
              <a:buSzTx/>
              <a:buFontTx/>
              <a:buNone/>
            </a:pPr>
            <a:r>
              <a:rPr lang="en-US" altLang="en-US" sz="2000" dirty="0">
                <a:latin typeface="Times New Roman" panose="02020603050405020304" pitchFamily="18" charset="0"/>
                <a:cs typeface="Times New Roman" panose="02020603050405020304" pitchFamily="18" charset="0"/>
              </a:rPr>
              <a:t>Agriculture is essential to India’s economy, and accurate yield prediction helps farmers anticipate their crop output effectively. This project recommends the most suitable crop based on land conditions, utilizing straightforward parameters like state, district, season, and area to provide yield predictions in advance. By leveraging data mining for crop yield analysis, the project offers valuable insights, empowering farmers to make informed decisions for better planning and increased productivity.The system comes with a model to be precise and accurate in predicting crop yield and deliver the end user with proper recommendations about required fertilizer ratio based on atmospheric and soil parameters of the land which enhance to increase the crop yield and increase farmer revenue</a:t>
            </a:r>
            <a:r>
              <a:rPr lang="en-US" altLang="en-US" sz="1800"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marL="546100" lvl="0" indent="0" algn="just" defTabSz="457200" eaLnBrk="1" hangingPunct="1">
              <a:lnSpc>
                <a:spcPct val="150000"/>
              </a:lnSpc>
              <a:spcBef>
                <a:spcPts val="3715"/>
              </a:spcBef>
              <a:buSzTx/>
              <a:buFontTx/>
              <a:buNone/>
            </a:pPr>
            <a:endParaRPr lang="en-IN" altLang="en-US" sz="1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208088" y="355600"/>
            <a:ext cx="10785475" cy="708025"/>
          </a:xfrm>
          <a:prstGeom prst="rect">
            <a:avLst/>
          </a:prstGeom>
          <a:noFill/>
        </p:spPr>
        <p:txBody>
          <a:bodyPr>
            <a:spAutoFit/>
          </a:bodyPr>
          <a:lstStyle/>
          <a:p>
            <a:pPr marR="0" defTabSz="457200" eaLnBrk="1" fontAlgn="auto" hangingPunct="1">
              <a:spcBef>
                <a:spcPts val="0"/>
              </a:spcBef>
              <a:spcAft>
                <a:spcPts val="0"/>
              </a:spcAft>
              <a:buClrTx/>
              <a:buSzTx/>
              <a:buFontTx/>
              <a:buNone/>
              <a:defRPr/>
            </a:pPr>
            <a:r>
              <a:rPr kumimoji="0" lang="en-IN" sz="4000" b="1" kern="1200" cap="none" spc="-5" normalizeH="0" baseline="0" noProof="0" dirty="0">
                <a:latin typeface="Times New Roman" panose="02020603050405020304"/>
                <a:ea typeface="+mn-ea"/>
                <a:cs typeface="Times New Roman" panose="02020603050405020304"/>
              </a:rPr>
              <a:t>Introduction</a:t>
            </a:r>
            <a:endParaRPr kumimoji="0" lang="en-IN" sz="4000" b="1" kern="1200" cap="none" spc="0" normalizeH="0" baseline="0" noProof="0" dirty="0">
              <a:latin typeface="+mn-lt"/>
              <a:ea typeface="+mn-ea"/>
              <a:cs typeface="+mn-cs"/>
            </a:endParaRPr>
          </a:p>
        </p:txBody>
      </p:sp>
      <p:sp>
        <p:nvSpPr>
          <p:cNvPr id="9219" name="TextBox 2"/>
          <p:cNvSpPr txBox="1"/>
          <p:nvPr/>
        </p:nvSpPr>
        <p:spPr>
          <a:xfrm>
            <a:off x="1208088" y="1246188"/>
            <a:ext cx="9548812" cy="553910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347980" lvl="0" indent="-336550" algn="just" defTabSz="457200">
              <a:lnSpc>
                <a:spcPct val="150000"/>
              </a:lnSpc>
              <a:spcBef>
                <a:spcPct val="0"/>
              </a:spcBef>
              <a:buSzTx/>
              <a:buFont typeface="Wingdings" panose="05000000000000000000" pitchFamily="2" charset="2"/>
              <a:buChar char="ü"/>
              <a:tabLst>
                <a:tab pos="347980" algn="l"/>
                <a:tab pos="349250" algn="l"/>
                <a:tab pos="6748780" algn="l"/>
              </a:tabLst>
            </a:pPr>
            <a:r>
              <a:rPr lang="en-US" altLang="en-US" sz="2000" dirty="0">
                <a:latin typeface="Times New Roman" panose="02020603050405020304" pitchFamily="18" charset="0"/>
                <a:cs typeface="Times New Roman" panose="02020603050405020304" pitchFamily="18" charset="0"/>
              </a:rPr>
              <a:t>The agricultural economists focused on how agriculture can contribute to the whole economic growth and modernization.</a:t>
            </a:r>
            <a:endParaRPr lang="en-US" altLang="en-US" sz="2000" dirty="0">
              <a:latin typeface="Times New Roman" panose="02020603050405020304" pitchFamily="18" charset="0"/>
              <a:cs typeface="Times New Roman" panose="02020603050405020304" pitchFamily="18" charset="0"/>
            </a:endParaRPr>
          </a:p>
          <a:p>
            <a:pPr marL="347980" lvl="0" indent="-336550" algn="just" defTabSz="457200">
              <a:lnSpc>
                <a:spcPct val="150000"/>
              </a:lnSpc>
              <a:spcBef>
                <a:spcPct val="0"/>
              </a:spcBef>
              <a:buSzTx/>
              <a:buFont typeface="Wingdings" panose="05000000000000000000" pitchFamily="2" charset="2"/>
              <a:buChar char="ü"/>
              <a:tabLst>
                <a:tab pos="347980" algn="l"/>
                <a:tab pos="349250" algn="l"/>
                <a:tab pos="6748780" algn="l"/>
              </a:tabLst>
            </a:pPr>
            <a:r>
              <a:rPr lang="en-US" altLang="en-US" sz="2000" dirty="0">
                <a:latin typeface="Times New Roman" panose="02020603050405020304" pitchFamily="18" charset="0"/>
                <a:cs typeface="Times New Roman" panose="02020603050405020304" pitchFamily="18" charset="0"/>
              </a:rPr>
              <a:t> It is believed that the robust agricultural growth and productivity are vital aspect to sustained economic development. </a:t>
            </a:r>
            <a:endParaRPr lang="en-US" altLang="en-US" sz="2000" dirty="0">
              <a:latin typeface="Times New Roman" panose="02020603050405020304" pitchFamily="18" charset="0"/>
              <a:cs typeface="Times New Roman" panose="02020603050405020304" pitchFamily="18" charset="0"/>
            </a:endParaRPr>
          </a:p>
          <a:p>
            <a:pPr marL="347980" lvl="0" indent="-336550" algn="just" defTabSz="457200">
              <a:lnSpc>
                <a:spcPct val="150000"/>
              </a:lnSpc>
              <a:spcBef>
                <a:spcPct val="0"/>
              </a:spcBef>
              <a:buSzTx/>
              <a:buFont typeface="Wingdings" panose="05000000000000000000" pitchFamily="2" charset="2"/>
              <a:buChar char="ü"/>
              <a:tabLst>
                <a:tab pos="347980" algn="l"/>
                <a:tab pos="349250" algn="l"/>
                <a:tab pos="6748780" algn="l"/>
              </a:tabLst>
            </a:pPr>
            <a:r>
              <a:rPr lang="en-US" altLang="en-US" sz="2000" dirty="0">
                <a:latin typeface="Times New Roman" panose="02020603050405020304" pitchFamily="18" charset="0"/>
                <a:cs typeface="Times New Roman" panose="02020603050405020304" pitchFamily="18" charset="0"/>
              </a:rPr>
              <a:t>There are several policy makers, policy analyst and academic in developing countries.</a:t>
            </a:r>
            <a:endParaRPr lang="en-US" altLang="en-US" sz="2000" dirty="0">
              <a:latin typeface="Times New Roman" panose="02020603050405020304" pitchFamily="18" charset="0"/>
              <a:cs typeface="Times New Roman" panose="02020603050405020304" pitchFamily="18" charset="0"/>
            </a:endParaRPr>
          </a:p>
          <a:p>
            <a:pPr marL="347980" lvl="0" indent="-336550" algn="just" defTabSz="457200">
              <a:lnSpc>
                <a:spcPct val="150000"/>
              </a:lnSpc>
              <a:spcBef>
                <a:spcPct val="0"/>
              </a:spcBef>
              <a:buSzTx/>
              <a:buFont typeface="Wingdings" panose="05000000000000000000" pitchFamily="2" charset="2"/>
              <a:buChar char="ü"/>
              <a:tabLst>
                <a:tab pos="347980" algn="l"/>
                <a:tab pos="349250" algn="l"/>
                <a:tab pos="6748780" algn="l"/>
              </a:tabLst>
            </a:pPr>
            <a:r>
              <a:rPr lang="en-US" altLang="en-US" sz="2000" dirty="0">
                <a:latin typeface="Times New Roman" panose="02020603050405020304" pitchFamily="18" charset="0"/>
                <a:cs typeface="Times New Roman" panose="02020603050405020304" pitchFamily="18" charset="0"/>
              </a:rPr>
              <a:t> In agriculture, one of the critical problems faced by farmers is the management of pest and diseases for the crops under cultivation. </a:t>
            </a:r>
            <a:endParaRPr lang="en-US" altLang="en-US" sz="2000" dirty="0">
              <a:latin typeface="Times New Roman" panose="02020603050405020304" pitchFamily="18" charset="0"/>
              <a:cs typeface="Times New Roman" panose="02020603050405020304" pitchFamily="18" charset="0"/>
            </a:endParaRPr>
          </a:p>
          <a:p>
            <a:pPr marL="347980" lvl="0" indent="-336550" algn="just" defTabSz="457200">
              <a:lnSpc>
                <a:spcPct val="150000"/>
              </a:lnSpc>
              <a:spcBef>
                <a:spcPct val="0"/>
              </a:spcBef>
              <a:buSzTx/>
              <a:buFont typeface="Wingdings" panose="05000000000000000000" pitchFamily="2" charset="2"/>
              <a:buChar char="ü"/>
              <a:tabLst>
                <a:tab pos="347980" algn="l"/>
                <a:tab pos="349250" algn="l"/>
                <a:tab pos="6748780" algn="l"/>
              </a:tabLst>
            </a:pPr>
            <a:r>
              <a:rPr lang="en-US" altLang="en-US" sz="2000" dirty="0">
                <a:latin typeface="Times New Roman" panose="02020603050405020304" pitchFamily="18" charset="0"/>
                <a:cs typeface="Times New Roman" panose="02020603050405020304" pitchFamily="18" charset="0"/>
              </a:rPr>
              <a:t> Usually, there is significant increase in the cost of production along with high health hazards due to excess application of pesticides which is mainly due to the lack of information of diseases and pests that emerge in farms.</a:t>
            </a:r>
            <a:endParaRPr lang="en-US" altLang="en-US" sz="2000" dirty="0">
              <a:latin typeface="Times New Roman" panose="02020603050405020304" pitchFamily="18" charset="0"/>
              <a:cs typeface="Times New Roman" panose="02020603050405020304" pitchFamily="18" charset="0"/>
            </a:endParaRPr>
          </a:p>
          <a:p>
            <a:pPr marL="347980" lvl="0" indent="-336550" algn="just" defTabSz="457200">
              <a:lnSpc>
                <a:spcPct val="150000"/>
              </a:lnSpc>
              <a:spcBef>
                <a:spcPct val="0"/>
              </a:spcBef>
              <a:buSzTx/>
              <a:buFont typeface="Wingdings" panose="05000000000000000000" pitchFamily="2" charset="2"/>
              <a:buChar char="ü"/>
              <a:tabLst>
                <a:tab pos="347980" algn="l"/>
                <a:tab pos="349250" algn="l"/>
                <a:tab pos="6748780" algn="l"/>
              </a:tabLst>
            </a:pPr>
            <a:endParaRPr lang="en-US" altLang="en-US" sz="2000" dirty="0">
              <a:latin typeface="Times New Roman" panose="02020603050405020304" pitchFamily="18" charset="0"/>
              <a:cs typeface="Times New Roman" panose="02020603050405020304" pitchFamily="18" charset="0"/>
            </a:endParaRPr>
          </a:p>
          <a:p>
            <a:pPr marL="347980" lvl="0" indent="-336550" algn="just" defTabSz="457200" eaLnBrk="1" hangingPunct="1">
              <a:lnSpc>
                <a:spcPct val="116000"/>
              </a:lnSpc>
              <a:spcBef>
                <a:spcPts val="100"/>
              </a:spcBef>
              <a:buSzTx/>
              <a:buFont typeface="Wingdings" panose="05000000000000000000" pitchFamily="2" charset="2"/>
              <a:buChar char="v"/>
              <a:tabLst>
                <a:tab pos="347980" algn="l"/>
                <a:tab pos="349250" algn="l"/>
                <a:tab pos="6748780" algn="l"/>
              </a:tabLst>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3619500" y="161925"/>
            <a:ext cx="4498975" cy="628650"/>
          </a:xfrm>
        </p:spPr>
        <p:txBody>
          <a:bodyPr vert="horz" wrap="square" lIns="0" tIns="12065" rIns="0" bIns="0" rtlCol="0" anchor="ctr">
            <a:spAutoFit/>
          </a:bodyPr>
          <a:p>
            <a:pPr marL="12700" indent="0">
              <a:lnSpc>
                <a:spcPct val="100000"/>
              </a:lnSpc>
              <a:spcBef>
                <a:spcPts val="100"/>
              </a:spcBef>
              <a:buNone/>
            </a:pPr>
            <a:r>
              <a:rPr lang="zh-CN" altLang="x-none" sz="4000" dirty="0">
                <a:solidFill>
                  <a:srgbClr val="314A93"/>
                </a:solidFill>
              </a:rPr>
              <a:t>LITERATURE</a:t>
            </a:r>
            <a:r>
              <a:rPr sz="4000" dirty="0">
                <a:solidFill>
                  <a:srgbClr val="314A93"/>
                </a:solidFill>
              </a:rPr>
              <a:t> SURVEY</a:t>
            </a:r>
            <a:endParaRPr lang="zh-CN" altLang="x-none" sz="4000"/>
          </a:p>
        </p:txBody>
      </p:sp>
      <p:graphicFrame>
        <p:nvGraphicFramePr>
          <p:cNvPr id="3" name="object 3"/>
          <p:cNvGraphicFramePr>
            <a:graphicFrameLocks noGrp="1"/>
          </p:cNvGraphicFramePr>
          <p:nvPr/>
        </p:nvGraphicFramePr>
        <p:xfrm>
          <a:off x="0" y="904875"/>
          <a:ext cx="12192000" cy="6251575"/>
        </p:xfrm>
        <a:graphic>
          <a:graphicData uri="http://schemas.openxmlformats.org/drawingml/2006/table">
            <a:tbl>
              <a:tblPr/>
              <a:tblGrid>
                <a:gridCol w="2438400"/>
                <a:gridCol w="2438400"/>
                <a:gridCol w="2438400"/>
                <a:gridCol w="2438400"/>
                <a:gridCol w="2438400"/>
              </a:tblGrid>
              <a:tr h="582919">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rPr>
                        <a:t>AUTHOR NAME</a:t>
                      </a:r>
                      <a:endPar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0066CC"/>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1" i="0" u="none" strike="noStrike" cap="none" normalizeH="0" baseline="0" dirty="0">
                          <a:ln>
                            <a:noFill/>
                          </a:ln>
                          <a:solidFill>
                            <a:srgbClr val="FFFFFF"/>
                          </a:solidFill>
                          <a:effectLst/>
                          <a:latin typeface="Times New Roman" panose="02020603050405020304" pitchFamily="18" charset="0"/>
                          <a:cs typeface="Times New Roman" panose="02020603050405020304" pitchFamily="18" charset="0"/>
                        </a:rPr>
                        <a:t>PAPER TITLE AND PUBLISHING YEAR</a:t>
                      </a:r>
                      <a:endParaRPr kumimoji="0" lang="en-US" altLang="en-US" sz="1800" b="1" i="0" u="none" strike="noStrike" cap="none" normalizeH="0" baseline="0" dirty="0">
                        <a:ln>
                          <a:noFill/>
                        </a:ln>
                        <a:solidFill>
                          <a:srgbClr val="FFFFFF"/>
                        </a:solidFill>
                        <a:effectLst/>
                        <a:latin typeface="Times New Roman" panose="02020603050405020304" pitchFamily="18" charset="0"/>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0066CC"/>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rPr>
                        <a:t>JOURNAL NAME</a:t>
                      </a:r>
                      <a:endPar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0066CC"/>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rPr>
                        <a:t>METHODOLOGY</a:t>
                      </a:r>
                      <a:endPar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0066CC"/>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rPr>
                        <a:t>OVERVIEW</a:t>
                      </a:r>
                      <a:endParaRPr kumimoji="0" lang="en-US" altLang="en-US" sz="1800" b="1" i="0" u="none" strike="noStrike" cap="none" normalizeH="0" baseline="0">
                        <a:ln>
                          <a:noFill/>
                        </a:ln>
                        <a:solidFill>
                          <a:srgbClr val="FFFFFF"/>
                        </a:solidFill>
                        <a:effectLst/>
                        <a:latin typeface="Times New Roman" panose="02020603050405020304" pitchFamily="18" charset="0"/>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0066CC"/>
                    </a:solidFill>
                  </a:tcPr>
                </a:tc>
              </a:tr>
              <a:tr h="1759671">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IN"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Tianjun Wu,  Jiancheng Luo, Wen Dong, Yingwei Sun, Liegang Xia, Xuejian Zhang</a:t>
                      </a:r>
                      <a:endParaRPr kumimoji="0" lang="en-IN"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just"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Geo-Object-Based Soil Organic Matter Mapping Using Machine Learning Algorithms,2022</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indent="63500">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63500" algn="l" defTabSz="914400" rtl="0" eaLnBrk="1" fontAlgn="base" latinLnBrk="0" hangingPunct="1">
                        <a:lnSpc>
                          <a:spcPct val="100000"/>
                        </a:lnSpc>
                        <a:spcBef>
                          <a:spcPts val="275"/>
                        </a:spcBef>
                        <a:spcAft>
                          <a:spcPct val="0"/>
                        </a:spcAft>
                        <a:buClrTx/>
                        <a:buSzTx/>
                        <a:buFontTx/>
                        <a:buNone/>
                      </a:pPr>
                      <a:r>
                        <a:rPr kumimoji="0" lang="en-I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a:t>
                      </a:r>
                      <a:endParaRPr kumimoji="0" lang="en-IN" altLang="en-US" sz="1800" b="0" i="0" u="none" strike="noStrike" cap="none" normalizeH="0" baseline="0" dirty="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Geo-objects extracted using CNN from remote sensing images.</a:t>
                      </a:r>
                      <a:endParaRPr kumimoji="0" lang="en-US" altLang="en-US" sz="1800" b="0" i="0" u="none" strike="noStrike" cap="none" normalizeH="0" baseline="0" dirty="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method improvessoilorganic matter mapping accuracy and provides more detailed, fine-scale maps.</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r>
              <a:tr h="1954493">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IN"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Dr. N. Ananthi, M.E, Ph.D., Divya J., Divya M., Janani V.</a:t>
                      </a:r>
                      <a:endParaRPr kumimoji="0" lang="en-IN"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7EAF6"/>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IoT-Based Smart Soil Monitoring System for Agricultural Production 2019</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7EAF6"/>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IN"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IEEE</a:t>
                      </a:r>
                      <a:endParaRPr kumimoji="0" lang="en-IN"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7EAF6"/>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pH sensor, temperature sensor, humidity sensor to monitor soil conditions. Sensor data sent to the field manager via Wi-Fi</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7EAF6"/>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system aids farmers by automating soil monitoring and irrigation, providing crop recommendations, and thereby improving agricultural productivity.</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7EAF6"/>
                    </a:solidFill>
                  </a:tcPr>
                </a:tc>
              </a:tr>
              <a:tr h="1954493">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rPr>
                        <a:t>P. Garcia, R. Miller</a:t>
                      </a:r>
                      <a:r>
                        <a:rPr kumimoji="0" lang="en-IN"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Nidhi H. Kulkarni, Dr. G. N. Srinivasan, Dr. B. M. Sagar, Dr. N. K. Cauvery</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Improving Crop Productivity Through A Crop Recommendation System Using Ensembling</a:t>
                      </a:r>
                      <a:r>
                        <a:rPr kumimoji="0" lang="en-US" altLang="en-US" sz="1800" b="0" i="0" u="none" strike="noStrike" cap="none" normalizeH="0" baseline="3000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Technique, 2021</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I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a:t>
                      </a:r>
                      <a:endParaRPr kumimoji="0" lang="en-IN" altLang="en-US" sz="1800" b="0" i="0" u="none" strike="noStrike" cap="none" normalizeH="0" baseline="0" dirty="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Combines predictions from multiple machine learning models (Random Forest, Naive Bayes, Linear SVM) to recommend the right crop.</a:t>
                      </a:r>
                      <a:endParaRPr kumimoji="0" lang="en-US" altLang="en-US" sz="1800" b="0" i="0" u="none" strike="noStrike" cap="none" normalizeH="0" baseline="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c>
                  <a:txBody>
                    <a:bodyPr/>
                    <a:lstStyle>
                      <a:lvl1pPr marL="90805">
                        <a:lnSpc>
                          <a:spcPct val="120000"/>
                        </a:lnSpc>
                        <a:spcBef>
                          <a:spcPts val="1000"/>
                        </a:spcBef>
                        <a:buSzPct val="125000"/>
                        <a:buFont typeface="Arial" panose="020B0604020202020204" pitchFamily="34" charset="0"/>
                        <a:defRPr sz="20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defRPr>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defRPr sz="2000">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defRPr sz="1400">
                          <a:solidFill>
                            <a:schemeClr val="tx1"/>
                          </a:solidFill>
                          <a:latin typeface="Tw Cen MT" panose="020B0602020104020603" pitchFamily="34" charset="0"/>
                        </a:defRPr>
                      </a:lvl9pPr>
                    </a:lstStyle>
                    <a:p>
                      <a:pPr marL="90805" marR="0" lvl="0" indent="0" algn="l" defTabSz="914400" rtl="0" eaLnBrk="1" fontAlgn="base" latinLnBrk="0" hangingPunct="1">
                        <a:lnSpc>
                          <a:spcPct val="100000"/>
                        </a:lnSpc>
                        <a:spcBef>
                          <a:spcPts val="275"/>
                        </a:spcBef>
                        <a:spcAft>
                          <a:spcPct val="0"/>
                        </a:spcAft>
                        <a:buClrTx/>
                        <a:buSzTx/>
                        <a:buFont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predictions from multiple machine learning to recommend the right crop.</a:t>
                      </a:r>
                      <a:endParaRPr kumimoji="0" lang="en-US" altLang="en-US" sz="1800" b="0" i="0" u="none" strike="noStrike" cap="none" normalizeH="0" baseline="0" dirty="0">
                        <a:ln>
                          <a:noFill/>
                        </a:ln>
                        <a:solidFill>
                          <a:schemeClr val="tx1"/>
                        </a:solidFill>
                        <a:effectLst/>
                        <a:latin typeface="Times New Roman" panose="02020603050405020304" pitchFamily="18" charset="0"/>
                        <a:ea typeface="Arial MT"/>
                        <a:cs typeface="Times New Roman" panose="02020603050405020304" pitchFamily="18" charset="0"/>
                      </a:endParaRPr>
                    </a:p>
                  </a:txBody>
                  <a:tcPr marL="0" marR="0" marT="34289"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AD2EB"/>
                    </a:solidFill>
                  </a:tcPr>
                </a:tc>
              </a:tr>
            </a:tbl>
          </a:graphicData>
        </a:graphic>
      </p:graphicFrame>
      <p:sp>
        <p:nvSpPr>
          <p:cNvPr id="10275" name="object 4"/>
          <p:cNvSpPr/>
          <p:nvPr/>
        </p:nvSpPr>
        <p:spPr>
          <a:xfrm>
            <a:off x="0" y="0"/>
            <a:ext cx="12192000" cy="6858000"/>
          </a:xfrm>
          <a:custGeom>
            <a:avLst/>
            <a:gdLst/>
            <a:ahLst/>
            <a:cxnLst>
              <a:cxn ang="0">
                <a:pos x="0" y="0"/>
              </a:cxn>
              <a:cxn ang="0">
                <a:pos x="12193016" y="0"/>
              </a:cxn>
              <a:cxn ang="0">
                <a:pos x="12193016" y="6859016"/>
              </a:cxn>
              <a:cxn ang="0">
                <a:pos x="0" y="6859016"/>
              </a:cxn>
              <a:cxn ang="0">
                <a:pos x="0" y="0"/>
              </a:cxn>
            </a:cxnLst>
            <a:pathLst>
              <a:path w="12190730" h="6856730">
                <a:moveTo>
                  <a:pt x="0" y="0"/>
                </a:moveTo>
                <a:lnTo>
                  <a:pt x="12190476" y="0"/>
                </a:lnTo>
                <a:lnTo>
                  <a:pt x="12190476" y="6856476"/>
                </a:lnTo>
                <a:lnTo>
                  <a:pt x="0" y="6856476"/>
                </a:lnTo>
                <a:lnTo>
                  <a:pt x="0" y="0"/>
                </a:lnTo>
                <a:close/>
              </a:path>
            </a:pathLst>
          </a:custGeom>
          <a:noFill/>
          <a:ln w="3175" cap="flat" cmpd="sng">
            <a:solidFill>
              <a:srgbClr val="000000">
                <a:alpha val="100000"/>
              </a:srgbClr>
            </a:solidFill>
            <a:prstDash val="solid"/>
            <a:round/>
            <a:headEnd type="none" w="med" len="med"/>
            <a:tailEnd type="none" w="med" len="med"/>
          </a:ln>
        </p:spPr>
        <p:txBody>
          <a:bodyPr/>
          <a:p>
            <a:endParaRPr lang="en-GB"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Box 1"/>
          <p:cNvSpPr txBox="1"/>
          <p:nvPr/>
        </p:nvSpPr>
        <p:spPr>
          <a:xfrm>
            <a:off x="1216025" y="363538"/>
            <a:ext cx="3679825" cy="708025"/>
          </a:xfrm>
          <a:prstGeom prst="rect">
            <a:avLst/>
          </a:prstGeom>
          <a:noFill/>
          <a:ln w="9525">
            <a:noFill/>
          </a:ln>
        </p:spPr>
        <p:txBody>
          <a:bodyPr wrap="none">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Existing System</a:t>
            </a:r>
            <a:endParaRPr lang="en-IN" altLang="en-US" sz="4000" b="1" dirty="0">
              <a:ea typeface="Arial" panose="020B0604020202020204" pitchFamily="34" charset="0"/>
            </a:endParaRPr>
          </a:p>
        </p:txBody>
      </p:sp>
      <p:sp>
        <p:nvSpPr>
          <p:cNvPr id="11267" name="TextBox 6"/>
          <p:cNvSpPr txBox="1">
            <a:spLocks noChangeArrowheads="1"/>
          </p:cNvSpPr>
          <p:nvPr/>
        </p:nvSpPr>
        <p:spPr bwMode="auto">
          <a:xfrm>
            <a:off x="995680" y="1071880"/>
            <a:ext cx="10201275" cy="6737350"/>
          </a:xfrm>
          <a:prstGeom prst="rect">
            <a:avLst/>
          </a:prstGeom>
          <a:noFill/>
          <a:ln>
            <a:noFill/>
          </a:ln>
        </p:spPr>
        <p:txBody>
          <a:bodyPr>
            <a:no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just" defTabSz="4572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 existing system have indicated that the yield of the crop depends on the seasonal climate. In India, climate conditions vary unconditionally. </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 the time of drought, farmers face serious problems. So this taken into consideration they used some machine learning algorithms to help the farmers to suggest the crop for the better yield. </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They take various data from the previous years to estimate future data. </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They used SMO classifiers in WEKA to classify the results. The main factors that take into consideration are minimum temperature, maximum temperature, average temperature, and previous year’s crop information and yield information. Using SMO tool they classified the previous data into two classes that are high yield and low yield.</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1" fontAlgn="base" latinLnBrk="0" hangingPunct="1">
              <a:lnSpc>
                <a:spcPct val="100000"/>
              </a:lnSpc>
              <a:spcBef>
                <a:spcPct val="0"/>
              </a:spcBef>
              <a:spcAft>
                <a:spcPct val="0"/>
              </a:spcAft>
              <a:buClrTx/>
              <a:buSzTx/>
              <a:buFontTx/>
              <a:buNone/>
              <a:defRPr/>
            </a:pP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457200" rtl="0" eaLnBrk="1" fontAlgn="base" latinLnBrk="0" hangingPunct="1">
              <a:lnSpc>
                <a:spcPct val="100000"/>
              </a:lnSpc>
              <a:spcBef>
                <a:spcPct val="0"/>
              </a:spcBef>
              <a:spcAft>
                <a:spcPct val="0"/>
              </a:spcAft>
              <a:buClrTx/>
              <a:buSzTx/>
              <a:buFontTx/>
              <a:buNone/>
              <a:defRPr/>
            </a:pP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endParaRP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defRPr/>
            </a:pP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Box 3"/>
          <p:cNvSpPr txBox="1"/>
          <p:nvPr/>
        </p:nvSpPr>
        <p:spPr>
          <a:xfrm>
            <a:off x="1225550" y="539750"/>
            <a:ext cx="10137775"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Existing System with Limitations</a:t>
            </a:r>
            <a:endParaRPr lang="en-IN" altLang="en-US" sz="4000" b="1" dirty="0">
              <a:latin typeface="Times New Roman" panose="02020603050405020304" pitchFamily="18" charset="0"/>
              <a:ea typeface="Times New Roman" panose="02020603050405020304" pitchFamily="18" charset="0"/>
            </a:endParaRPr>
          </a:p>
        </p:txBody>
      </p:sp>
      <p:sp>
        <p:nvSpPr>
          <p:cNvPr id="5" name="TextBox 4"/>
          <p:cNvSpPr txBox="1"/>
          <p:nvPr/>
        </p:nvSpPr>
        <p:spPr>
          <a:xfrm>
            <a:off x="1296988" y="1624013"/>
            <a:ext cx="10350500" cy="3384550"/>
          </a:xfrm>
          <a:prstGeom prst="rect">
            <a:avLst/>
          </a:prstGeom>
          <a:noFill/>
        </p:spPr>
        <p:txBody>
          <a:bodyPr>
            <a:spAutoFit/>
          </a:bodyPr>
          <a:lstStyle/>
          <a:p>
            <a:pPr marR="0" defTabSz="457200" eaLnBrk="1" hangingPunct="1">
              <a:buClrTx/>
              <a:buSzTx/>
              <a:buFont typeface="Arial" panose="020B0604020202020204" pitchFamily="34" charset="0"/>
              <a:buChar char="•"/>
              <a:defRPr/>
            </a:pPr>
            <a:r>
              <a:rPr kumimoji="0" lang="en-US" sz="2800" kern="1200" cap="none" spc="0" normalizeH="0" baseline="0" noProof="0" dirty="0">
                <a:latin typeface="Times New Roman" panose="02020603050405020304" pitchFamily="18" charset="0"/>
                <a:ea typeface="+mn-ea"/>
                <a:cs typeface="Times New Roman" panose="02020603050405020304" pitchFamily="18" charset="0"/>
              </a:rPr>
              <a:t>Lack of Knowledge on formers</a:t>
            </a: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hangingPunct="1">
              <a:buClrTx/>
              <a:buSzTx/>
              <a:buFontTx/>
              <a:buNone/>
              <a:defRPr/>
            </a:pP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hangingPunct="1">
              <a:buClrTx/>
              <a:buSzTx/>
              <a:buFont typeface="Arial" panose="020B0604020202020204" pitchFamily="34" charset="0"/>
              <a:buChar char="•"/>
              <a:defRPr/>
            </a:pPr>
            <a:r>
              <a:rPr kumimoji="0" lang="en-US" sz="2800" kern="1200" cap="none" spc="0" normalizeH="0" baseline="0" noProof="0" dirty="0">
                <a:latin typeface="Times New Roman" panose="02020603050405020304" pitchFamily="18" charset="0"/>
                <a:ea typeface="+mn-ea"/>
                <a:cs typeface="Times New Roman" panose="02020603050405020304" pitchFamily="18" charset="0"/>
              </a:rPr>
              <a:t>Rapid Changes in environment conditions</a:t>
            </a: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hangingPunct="1">
              <a:buClrTx/>
              <a:buSzTx/>
              <a:buFontTx/>
              <a:buNone/>
              <a:defRPr/>
            </a:pP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hangingPunct="1">
              <a:buClrTx/>
              <a:buSzTx/>
              <a:buFont typeface="Arial" panose="020B0604020202020204" pitchFamily="34" charset="0"/>
              <a:buChar char="•"/>
              <a:defRPr/>
            </a:pPr>
            <a:r>
              <a:rPr kumimoji="0" lang="en-US" sz="2800" kern="1200" cap="none" spc="0" normalizeH="0" baseline="0" noProof="0" dirty="0">
                <a:latin typeface="Times New Roman" panose="02020603050405020304" pitchFamily="18" charset="0"/>
                <a:ea typeface="+mn-ea"/>
                <a:cs typeface="Times New Roman" panose="02020603050405020304" pitchFamily="18" charset="0"/>
              </a:rPr>
              <a:t>Increase in Earth Disorder Count</a:t>
            </a: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hangingPunct="1">
              <a:buClrTx/>
              <a:buSzTx/>
              <a:buFontTx/>
              <a:buNone/>
              <a:defRPr/>
            </a:pP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hangingPunct="1">
              <a:buClrTx/>
              <a:buSzTx/>
              <a:buFont typeface="Arial" panose="020B0604020202020204" pitchFamily="34" charset="0"/>
              <a:buChar char="•"/>
              <a:defRPr/>
            </a:pPr>
            <a:r>
              <a:rPr kumimoji="0" lang="en-US" sz="2800" kern="1200" cap="none" spc="0" normalizeH="0" baseline="0" noProof="0" dirty="0">
                <a:latin typeface="Times New Roman" panose="02020603050405020304" pitchFamily="18" charset="0"/>
                <a:ea typeface="+mn-ea"/>
                <a:cs typeface="Times New Roman" panose="02020603050405020304" pitchFamily="18" charset="0"/>
              </a:rPr>
              <a:t>No interaction between formers and Technical Team</a:t>
            </a:r>
            <a:endParaRPr kumimoji="0" lang="en-US" sz="28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fontAlgn="auto" hangingPunct="1">
              <a:spcBef>
                <a:spcPts val="0"/>
              </a:spcBef>
              <a:spcAft>
                <a:spcPts val="0"/>
              </a:spcAft>
              <a:buClrTx/>
              <a:buSzTx/>
              <a:buFontTx/>
              <a:buNone/>
              <a:defRPr/>
            </a:pPr>
            <a:r>
              <a:rPr kumimoji="0" lang="en-US" kern="1200" cap="none" spc="0" normalizeH="0" baseline="0" noProof="0" dirty="0">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Box 1"/>
          <p:cNvSpPr txBox="1"/>
          <p:nvPr/>
        </p:nvSpPr>
        <p:spPr>
          <a:xfrm>
            <a:off x="969963" y="585788"/>
            <a:ext cx="10252075" cy="1322387"/>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Proposed System</a:t>
            </a:r>
            <a:endParaRPr lang="en-IN" altLang="en-US" sz="4000" b="1" dirty="0">
              <a:latin typeface="Times New Roman" panose="02020603050405020304" pitchFamily="18" charset="0"/>
              <a:cs typeface="Times New Roman" panose="02020603050405020304" pitchFamily="18" charset="0"/>
            </a:endParaRPr>
          </a:p>
          <a:p>
            <a:pPr marL="0" lvl="0" indent="0" defTabSz="457200" eaLnBrk="1" hangingPunct="1">
              <a:lnSpc>
                <a:spcPct val="100000"/>
              </a:lnSpc>
              <a:spcBef>
                <a:spcPct val="0"/>
              </a:spcBef>
              <a:buSzTx/>
              <a:buFontTx/>
              <a:buNone/>
            </a:pPr>
            <a:endParaRPr lang="en-IN" altLang="en-US" sz="4000" b="1" dirty="0">
              <a:latin typeface="Times New Roman" panose="02020603050405020304" pitchFamily="18" charset="0"/>
              <a:ea typeface="Times New Roman" panose="02020603050405020304" pitchFamily="18" charset="0"/>
            </a:endParaRPr>
          </a:p>
        </p:txBody>
      </p:sp>
      <p:sp>
        <p:nvSpPr>
          <p:cNvPr id="13315" name="TextBox 2"/>
          <p:cNvSpPr txBox="1">
            <a:spLocks noChangeArrowheads="1"/>
          </p:cNvSpPr>
          <p:nvPr/>
        </p:nvSpPr>
        <p:spPr bwMode="auto">
          <a:xfrm>
            <a:off x="811213" y="1558925"/>
            <a:ext cx="10764838" cy="3784600"/>
          </a:xfrm>
          <a:prstGeom prst="rect">
            <a:avLst/>
          </a:prstGeom>
          <a:noFill/>
          <a:ln>
            <a:noFill/>
          </a:ln>
        </p:spPr>
        <p:txBody>
          <a:bodyPr>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marR="0" lvl="0" indent="-285750" algn="just" defTabSz="4572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 the proposed system, we develop Recommendation of the crop using the efficient algorithm.</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4572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challenge in it is to build the efficient model to predict the most efficient model to predict the output of the crop so try with the different algorithms and compare all the algorithms and which one has the less error and loss chose that model and predict the yield of that particular crop.</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4572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We implement the Deep Learning </a:t>
            </a:r>
            <a:r>
              <a:rPr kumimoji="0" lang="en-US" sz="24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baased</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prediction system, so the results will be in dynamic and will vary according to the day to day scenarios.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Box 4"/>
          <p:cNvSpPr txBox="1"/>
          <p:nvPr/>
        </p:nvSpPr>
        <p:spPr>
          <a:xfrm>
            <a:off x="1119188" y="458788"/>
            <a:ext cx="10253662" cy="132397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Proposed System &amp; Advantages</a:t>
            </a:r>
            <a:endParaRPr lang="en-IN" altLang="en-US" sz="4000" b="1" dirty="0">
              <a:latin typeface="Times New Roman" panose="02020603050405020304" pitchFamily="18" charset="0"/>
              <a:cs typeface="Times New Roman" panose="02020603050405020304" pitchFamily="18" charset="0"/>
            </a:endParaRPr>
          </a:p>
          <a:p>
            <a:pPr marL="0" lvl="0" indent="0" defTabSz="457200" eaLnBrk="1" hangingPunct="1">
              <a:lnSpc>
                <a:spcPct val="100000"/>
              </a:lnSpc>
              <a:spcBef>
                <a:spcPct val="0"/>
              </a:spcBef>
              <a:buSzTx/>
              <a:buFontTx/>
              <a:buNone/>
            </a:pPr>
            <a:endParaRPr lang="en-IN" altLang="en-US" sz="4000" b="1" dirty="0">
              <a:latin typeface="Times New Roman" panose="02020603050405020304" pitchFamily="18" charset="0"/>
              <a:ea typeface="Times New Roman" panose="02020603050405020304" pitchFamily="18" charset="0"/>
            </a:endParaRPr>
          </a:p>
        </p:txBody>
      </p:sp>
      <p:sp>
        <p:nvSpPr>
          <p:cNvPr id="3" name="TextBox 2"/>
          <p:cNvSpPr txBox="1"/>
          <p:nvPr/>
        </p:nvSpPr>
        <p:spPr>
          <a:xfrm>
            <a:off x="1146175" y="1382713"/>
            <a:ext cx="9926638" cy="3692525"/>
          </a:xfrm>
          <a:prstGeom prst="rect">
            <a:avLst/>
          </a:prstGeom>
          <a:noFill/>
        </p:spPr>
        <p:txBody>
          <a:bodyPr>
            <a:spAutoFit/>
          </a:bodyPr>
          <a:lstStyle/>
          <a:p>
            <a:pPr marR="0" algn="just" defTabSz="457200" eaLnBrk="1" hangingPunct="1">
              <a:buClrTx/>
              <a:buSzTx/>
              <a:buFont typeface="Arial" panose="020B0604020202020204" pitchFamily="34" charset="0"/>
              <a:buChar char="•"/>
              <a:defRPr/>
            </a:pPr>
            <a:r>
              <a:rPr kumimoji="0" lang="en-US" sz="2400" kern="1200" cap="none" spc="0" normalizeH="0" baseline="0" noProof="0" dirty="0">
                <a:latin typeface="Times New Roman" panose="02020603050405020304" pitchFamily="18" charset="0"/>
                <a:ea typeface="+mn-ea"/>
                <a:cs typeface="Times New Roman" panose="02020603050405020304" pitchFamily="18" charset="0"/>
              </a:rPr>
              <a:t>Achieving the maximum crop at minimum yield is the ultimate Aim of the project.</a:t>
            </a:r>
            <a:endParaRPr kumimoji="0" lang="en-US" sz="2400" kern="1200" cap="none" spc="0" normalizeH="0" baseline="0" noProof="0" dirty="0">
              <a:latin typeface="Times New Roman" panose="02020603050405020304" pitchFamily="18" charset="0"/>
              <a:ea typeface="+mn-ea"/>
              <a:cs typeface="Times New Roman" panose="02020603050405020304" pitchFamily="18" charset="0"/>
            </a:endParaRPr>
          </a:p>
          <a:p>
            <a:pPr marR="0" algn="just" defTabSz="457200" eaLnBrk="1" hangingPunct="1">
              <a:buClrTx/>
              <a:buSzTx/>
              <a:buFontTx/>
              <a:buNone/>
              <a:defRPr/>
            </a:pPr>
            <a:endParaRPr kumimoji="0" lang="en-US" sz="2400" kern="1200" cap="none" spc="0" normalizeH="0" baseline="0" noProof="0" dirty="0">
              <a:latin typeface="Times New Roman" panose="02020603050405020304" pitchFamily="18" charset="0"/>
              <a:ea typeface="+mn-ea"/>
              <a:cs typeface="Times New Roman" panose="02020603050405020304" pitchFamily="18" charset="0"/>
            </a:endParaRPr>
          </a:p>
          <a:p>
            <a:pPr marR="0" algn="just" defTabSz="457200" eaLnBrk="1" hangingPunct="1">
              <a:buClrTx/>
              <a:buSzTx/>
              <a:buFont typeface="Arial" panose="020B0604020202020204" pitchFamily="34" charset="0"/>
              <a:buChar char="•"/>
              <a:defRPr/>
            </a:pPr>
            <a:r>
              <a:rPr kumimoji="0" lang="en-US" sz="2400" kern="1200" cap="none" spc="0" normalizeH="0" baseline="0" noProof="0" dirty="0">
                <a:latin typeface="Times New Roman" panose="02020603050405020304" pitchFamily="18" charset="0"/>
                <a:ea typeface="+mn-ea"/>
                <a:cs typeface="Times New Roman" panose="02020603050405020304" pitchFamily="18" charset="0"/>
              </a:rPr>
              <a:t>Early detection of problems and management of that problems can help the farmers for better crop yield.</a:t>
            </a:r>
            <a:endParaRPr kumimoji="0" lang="en-US" sz="2400" kern="1200" cap="none" spc="0" normalizeH="0" baseline="0" noProof="0" dirty="0">
              <a:latin typeface="Times New Roman" panose="02020603050405020304" pitchFamily="18" charset="0"/>
              <a:ea typeface="+mn-ea"/>
              <a:cs typeface="Times New Roman" panose="02020603050405020304" pitchFamily="18" charset="0"/>
            </a:endParaRPr>
          </a:p>
          <a:p>
            <a:pPr marR="0" algn="just" defTabSz="457200" eaLnBrk="1" hangingPunct="1">
              <a:buClrTx/>
              <a:buSzTx/>
              <a:buFontTx/>
              <a:buNone/>
              <a:defRPr/>
            </a:pPr>
            <a:endParaRPr kumimoji="0" lang="en-US" sz="2400" kern="1200" cap="none" spc="0" normalizeH="0" baseline="0" noProof="0" dirty="0">
              <a:latin typeface="Times New Roman" panose="02020603050405020304" pitchFamily="18" charset="0"/>
              <a:ea typeface="+mn-ea"/>
              <a:cs typeface="Times New Roman" panose="02020603050405020304" pitchFamily="18" charset="0"/>
            </a:endParaRPr>
          </a:p>
          <a:p>
            <a:pPr marR="0" algn="just" defTabSz="457200" eaLnBrk="1" hangingPunct="1">
              <a:buClrTx/>
              <a:buSzTx/>
              <a:buFont typeface="Arial" panose="020B0604020202020204" pitchFamily="34" charset="0"/>
              <a:buChar char="•"/>
              <a:defRPr/>
            </a:pPr>
            <a:r>
              <a:rPr kumimoji="0" lang="en-US" sz="2400" kern="1200" cap="none" spc="0" normalizeH="0" baseline="0" noProof="0" dirty="0">
                <a:latin typeface="Times New Roman" panose="02020603050405020304" pitchFamily="18" charset="0"/>
                <a:ea typeface="+mn-ea"/>
                <a:cs typeface="Times New Roman" panose="02020603050405020304" pitchFamily="18" charset="0"/>
              </a:rPr>
              <a:t>For the better understanding of the crop yield, we need to study of the huge data with the help of machine learning algorithm so it will give the accurate yield for that crop and suggest the farmer for a better crop.</a:t>
            </a:r>
            <a:endParaRPr kumimoji="0" lang="en-US" sz="24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eaLnBrk="1" fontAlgn="auto" hangingPunct="1">
              <a:spcBef>
                <a:spcPts val="0"/>
              </a:spcBef>
              <a:spcAft>
                <a:spcPts val="0"/>
              </a:spcAft>
              <a:buClrTx/>
              <a:buSzTx/>
              <a:buFontTx/>
              <a:buNone/>
              <a:defRPr/>
            </a:pPr>
            <a:endParaRPr kumimoji="0" lang="en-IN"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Box 1"/>
          <p:cNvSpPr txBox="1"/>
          <p:nvPr/>
        </p:nvSpPr>
        <p:spPr>
          <a:xfrm>
            <a:off x="5521325" y="252413"/>
            <a:ext cx="6099175" cy="132397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Software Requirements</a:t>
            </a:r>
            <a:endParaRPr lang="en-IN" altLang="en-US" sz="4000" b="1" dirty="0">
              <a:latin typeface="Times New Roman" panose="02020603050405020304" pitchFamily="18" charset="0"/>
              <a:cs typeface="Times New Roman" panose="02020603050405020304" pitchFamily="18" charset="0"/>
            </a:endParaRPr>
          </a:p>
          <a:p>
            <a:pPr marL="0" lvl="0" indent="0" defTabSz="457200" eaLnBrk="1" hangingPunct="1">
              <a:lnSpc>
                <a:spcPct val="100000"/>
              </a:lnSpc>
              <a:spcBef>
                <a:spcPct val="0"/>
              </a:spcBef>
              <a:buSzTx/>
              <a:buFontTx/>
              <a:buNone/>
            </a:pPr>
            <a:endParaRPr lang="en-IN" altLang="en-US" sz="4000" b="1" dirty="0">
              <a:latin typeface="Times New Roman" panose="02020603050405020304" pitchFamily="18" charset="0"/>
              <a:ea typeface="Times New Roman" panose="02020603050405020304" pitchFamily="18" charset="0"/>
            </a:endParaRPr>
          </a:p>
        </p:txBody>
      </p:sp>
      <p:pic>
        <p:nvPicPr>
          <p:cNvPr id="15363" name="Picture 4"/>
          <p:cNvPicPr>
            <a:picLocks noChangeAspect="1"/>
          </p:cNvPicPr>
          <p:nvPr/>
        </p:nvPicPr>
        <p:blipFill>
          <a:blip r:embed="rId1"/>
          <a:stretch>
            <a:fillRect/>
          </a:stretch>
        </p:blipFill>
        <p:spPr>
          <a:xfrm>
            <a:off x="-6350" y="0"/>
            <a:ext cx="5287963" cy="6942138"/>
          </a:xfrm>
          <a:prstGeom prst="rect">
            <a:avLst/>
          </a:prstGeom>
          <a:noFill/>
          <a:ln w="9525">
            <a:noFill/>
          </a:ln>
        </p:spPr>
      </p:pic>
      <p:sp>
        <p:nvSpPr>
          <p:cNvPr id="15364" name="TextBox 7"/>
          <p:cNvSpPr txBox="1"/>
          <p:nvPr/>
        </p:nvSpPr>
        <p:spPr>
          <a:xfrm>
            <a:off x="5380038" y="1935163"/>
            <a:ext cx="6099175" cy="1687512"/>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342900" lvl="0" indent="-342900" algn="just" defTabSz="457200" eaLnBrk="1" hangingPunct="1">
              <a:lnSpc>
                <a:spcPct val="150000"/>
              </a:lnSpc>
              <a:spcBef>
                <a:spcPct val="0"/>
              </a:spcBef>
              <a:buSzTx/>
              <a:buFont typeface="Symbol" panose="05050102010706020507" pitchFamily="18" charset="2"/>
              <a:buChar char=""/>
            </a:pPr>
            <a:r>
              <a:rPr lang="en-US" altLang="en-US" b="1" dirty="0">
                <a:latin typeface="Times New Roman" panose="02020603050405020304" pitchFamily="18" charset="0"/>
                <a:ea typeface="TimesNewRomanPSMT"/>
              </a:rPr>
              <a:t>Operating system:</a:t>
            </a:r>
            <a:r>
              <a:rPr lang="en-US" altLang="en-US" dirty="0">
                <a:latin typeface="Times New Roman" panose="02020603050405020304" pitchFamily="18" charset="0"/>
                <a:ea typeface="TimesNewRomanPSMT"/>
              </a:rPr>
              <a:t> Windows 7/10/11</a:t>
            </a:r>
            <a:endParaRPr lang="en-IN" altLang="en-US" dirty="0">
              <a:latin typeface="Times New Roman" panose="02020603050405020304" pitchFamily="18" charset="0"/>
              <a:cs typeface="Times New Roman" panose="02020603050405020304" pitchFamily="18" charset="0"/>
            </a:endParaRPr>
          </a:p>
          <a:p>
            <a:pPr marL="342900" lvl="0" indent="-342900" algn="just" defTabSz="457200" eaLnBrk="1" hangingPunct="1">
              <a:lnSpc>
                <a:spcPct val="150000"/>
              </a:lnSpc>
              <a:spcBef>
                <a:spcPct val="0"/>
              </a:spcBef>
              <a:buSzTx/>
              <a:buFont typeface="Symbol" panose="05050102010706020507" pitchFamily="18" charset="2"/>
              <a:buChar char=""/>
            </a:pPr>
            <a:r>
              <a:rPr lang="en-US" altLang="en-US" b="1" dirty="0">
                <a:latin typeface="Times New Roman" panose="02020603050405020304" pitchFamily="18" charset="0"/>
                <a:ea typeface="TimesNewRomanPSMT"/>
              </a:rPr>
              <a:t>Coding Language:</a:t>
            </a:r>
            <a:r>
              <a:rPr lang="en-US" altLang="en-US" dirty="0">
                <a:latin typeface="Times New Roman" panose="02020603050405020304" pitchFamily="18" charset="0"/>
                <a:ea typeface="TimesNewRomanPSMT"/>
              </a:rPr>
              <a:t> Python 3.3(or above)</a:t>
            </a:r>
            <a:endParaRPr lang="en-IN" altLang="en-US" dirty="0">
              <a:latin typeface="Times New Roman" panose="02020603050405020304" pitchFamily="18" charset="0"/>
              <a:cs typeface="Times New Roman" panose="02020603050405020304" pitchFamily="18" charset="0"/>
            </a:endParaRPr>
          </a:p>
          <a:p>
            <a:pPr marL="342900" lvl="0" indent="-342900" algn="just" defTabSz="457200" eaLnBrk="1" hangingPunct="1">
              <a:lnSpc>
                <a:spcPct val="150000"/>
              </a:lnSpc>
              <a:spcBef>
                <a:spcPct val="0"/>
              </a:spcBef>
              <a:buSzTx/>
              <a:buFont typeface="Symbol" panose="05050102010706020507" pitchFamily="18" charset="2"/>
              <a:buChar char=""/>
            </a:pPr>
            <a:r>
              <a:rPr lang="en-US" altLang="en-US" b="1" dirty="0">
                <a:latin typeface="Times New Roman" panose="02020603050405020304" pitchFamily="18" charset="0"/>
                <a:ea typeface="TimesNewRomanPSMT"/>
              </a:rPr>
              <a:t>Software:</a:t>
            </a:r>
            <a:r>
              <a:rPr lang="en-US" altLang="en-US" dirty="0">
                <a:latin typeface="Times New Roman" panose="02020603050405020304" pitchFamily="18" charset="0"/>
                <a:ea typeface="TimesNewRomanPSMT"/>
              </a:rPr>
              <a:t> Pandas, Matplotlib etc.</a:t>
            </a:r>
            <a:endParaRPr lang="en-I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Box 1"/>
          <p:cNvSpPr txBox="1"/>
          <p:nvPr/>
        </p:nvSpPr>
        <p:spPr>
          <a:xfrm>
            <a:off x="5780088" y="288925"/>
            <a:ext cx="5645150"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Hardware Requirements</a:t>
            </a:r>
            <a:endParaRPr lang="en-IN" altLang="en-US" sz="4000" b="1" dirty="0">
              <a:latin typeface="Times New Roman" panose="02020603050405020304" pitchFamily="18" charset="0"/>
              <a:ea typeface="Times New Roman" panose="02020603050405020304" pitchFamily="18" charset="0"/>
            </a:endParaRPr>
          </a:p>
        </p:txBody>
      </p:sp>
      <p:pic>
        <p:nvPicPr>
          <p:cNvPr id="16387" name="Picture 2" descr="Hardware Requirements (Minimum and Recommended) - DEV Community"/>
          <p:cNvPicPr>
            <a:picLocks noChangeAspect="1"/>
          </p:cNvPicPr>
          <p:nvPr/>
        </p:nvPicPr>
        <p:blipFill>
          <a:blip r:embed="rId1"/>
          <a:stretch>
            <a:fillRect/>
          </a:stretch>
        </p:blipFill>
        <p:spPr>
          <a:xfrm>
            <a:off x="0" y="0"/>
            <a:ext cx="5557838" cy="6858000"/>
          </a:xfrm>
          <a:prstGeom prst="rect">
            <a:avLst/>
          </a:prstGeom>
          <a:noFill/>
          <a:ln w="9525">
            <a:noFill/>
          </a:ln>
        </p:spPr>
      </p:pic>
      <p:sp>
        <p:nvSpPr>
          <p:cNvPr id="16388" name="TextBox 3"/>
          <p:cNvSpPr txBox="1"/>
          <p:nvPr/>
        </p:nvSpPr>
        <p:spPr>
          <a:xfrm>
            <a:off x="6243638" y="1792288"/>
            <a:ext cx="5265737" cy="3970337"/>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342900" lvl="0" indent="-342900" algn="just" defTabSz="457200">
              <a:lnSpc>
                <a:spcPct val="100000"/>
              </a:lnSpc>
              <a:spcBef>
                <a:spcPct val="0"/>
              </a:spcBef>
              <a:buSzTx/>
            </a:pPr>
            <a:r>
              <a:rPr lang="en-US" altLang="en-US" sz="3600" dirty="0">
                <a:solidFill>
                  <a:srgbClr val="808080"/>
                </a:solidFill>
                <a:latin typeface="Times New Roman" panose="02020603050405020304" pitchFamily="18" charset="0"/>
                <a:cs typeface="Arial" panose="020B0604020202020204" pitchFamily="34" charset="0"/>
              </a:rPr>
              <a:t>System:PentiumDual Core.</a:t>
            </a:r>
            <a:endParaRPr lang="en-US" altLang="en-US" sz="3600" dirty="0">
              <a:solidFill>
                <a:srgbClr val="808080"/>
              </a:solidFill>
              <a:latin typeface="Roboto" pitchFamily="2" charset="0"/>
              <a:cs typeface="Arial" panose="020B0604020202020204" pitchFamily="34" charset="0"/>
            </a:endParaRPr>
          </a:p>
          <a:p>
            <a:pPr marL="342900" lvl="0" indent="-342900" algn="just" defTabSz="457200">
              <a:lnSpc>
                <a:spcPct val="100000"/>
              </a:lnSpc>
              <a:spcBef>
                <a:spcPct val="0"/>
              </a:spcBef>
              <a:buSzTx/>
            </a:pPr>
            <a:r>
              <a:rPr lang="en-US" altLang="en-US" sz="3600" dirty="0">
                <a:solidFill>
                  <a:srgbClr val="808080"/>
                </a:solidFill>
                <a:latin typeface="Times New Roman" panose="02020603050405020304" pitchFamily="18" charset="0"/>
                <a:cs typeface="Arial" panose="020B0604020202020204" pitchFamily="34" charset="0"/>
              </a:rPr>
              <a:t>Hard Disk       : 120 GB.</a:t>
            </a:r>
            <a:endParaRPr lang="en-US" altLang="en-US" sz="3600" dirty="0">
              <a:solidFill>
                <a:srgbClr val="808080"/>
              </a:solidFill>
              <a:latin typeface="Roboto" pitchFamily="2" charset="0"/>
              <a:cs typeface="Arial" panose="020B0604020202020204" pitchFamily="34" charset="0"/>
            </a:endParaRPr>
          </a:p>
          <a:p>
            <a:pPr marL="342900" lvl="0" indent="-342900" algn="just" defTabSz="457200">
              <a:lnSpc>
                <a:spcPct val="100000"/>
              </a:lnSpc>
              <a:spcBef>
                <a:spcPct val="0"/>
              </a:spcBef>
              <a:buSzTx/>
            </a:pPr>
            <a:r>
              <a:rPr lang="en-US" altLang="en-US" sz="3600" dirty="0">
                <a:solidFill>
                  <a:srgbClr val="808080"/>
                </a:solidFill>
                <a:latin typeface="Times New Roman" panose="02020603050405020304" pitchFamily="18" charset="0"/>
                <a:cs typeface="Arial" panose="020B0604020202020204" pitchFamily="34" charset="0"/>
              </a:rPr>
              <a:t>Monitor           : 15’’ LED</a:t>
            </a:r>
            <a:endParaRPr lang="en-US" altLang="en-US" sz="3600" dirty="0">
              <a:solidFill>
                <a:srgbClr val="808080"/>
              </a:solidFill>
              <a:latin typeface="Roboto" pitchFamily="2" charset="0"/>
              <a:cs typeface="Arial" panose="020B0604020202020204" pitchFamily="34" charset="0"/>
            </a:endParaRPr>
          </a:p>
          <a:p>
            <a:pPr marL="342900" lvl="0" indent="-342900" algn="just" defTabSz="457200">
              <a:lnSpc>
                <a:spcPct val="100000"/>
              </a:lnSpc>
              <a:spcBef>
                <a:spcPct val="0"/>
              </a:spcBef>
              <a:buSzTx/>
            </a:pPr>
            <a:r>
              <a:rPr lang="en-US" altLang="en-US" sz="3600" dirty="0">
                <a:solidFill>
                  <a:srgbClr val="808080"/>
                </a:solidFill>
                <a:latin typeface="Times New Roman" panose="02020603050405020304" pitchFamily="18" charset="0"/>
                <a:cs typeface="Arial" panose="020B0604020202020204" pitchFamily="34" charset="0"/>
              </a:rPr>
              <a:t>Input : Devices : Keyboard, Mouse</a:t>
            </a:r>
            <a:endParaRPr lang="en-US" altLang="en-US" sz="3600" dirty="0">
              <a:solidFill>
                <a:srgbClr val="808080"/>
              </a:solidFill>
              <a:latin typeface="Roboto" pitchFamily="2" charset="0"/>
              <a:cs typeface="Arial" panose="020B0604020202020204" pitchFamily="34" charset="0"/>
            </a:endParaRPr>
          </a:p>
          <a:p>
            <a:pPr marL="342900" lvl="0" indent="-342900" algn="just" defTabSz="457200">
              <a:lnSpc>
                <a:spcPct val="100000"/>
              </a:lnSpc>
              <a:spcBef>
                <a:spcPct val="0"/>
              </a:spcBef>
              <a:buSzTx/>
            </a:pPr>
            <a:r>
              <a:rPr lang="en-US" altLang="en-US" sz="3600" dirty="0">
                <a:solidFill>
                  <a:srgbClr val="808080"/>
                </a:solidFill>
                <a:latin typeface="Times New Roman" panose="02020603050405020304" pitchFamily="18" charset="0"/>
                <a:cs typeface="Arial" panose="020B0604020202020204" pitchFamily="34" charset="0"/>
              </a:rPr>
              <a:t>Ram                : 1 GB</a:t>
            </a:r>
            <a:endParaRPr lang="en-US" altLang="en-US" sz="3600" dirty="0">
              <a:solidFill>
                <a:srgbClr val="808080"/>
              </a:solidFill>
              <a:latin typeface="Roboto" pitchFamily="2" charset="0"/>
              <a:ea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Box 1"/>
          <p:cNvSpPr txBox="1"/>
          <p:nvPr/>
        </p:nvSpPr>
        <p:spPr>
          <a:xfrm>
            <a:off x="1447800" y="381000"/>
            <a:ext cx="9809163" cy="647700"/>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US" altLang="en-US" sz="3600" b="1" dirty="0">
                <a:latin typeface="Times New Roman" panose="02020603050405020304" pitchFamily="18" charset="0"/>
                <a:ea typeface="TimesNewRomanPSMT"/>
              </a:rPr>
              <a:t>Use Case Diagram</a:t>
            </a:r>
            <a:endParaRPr lang="en-IN" altLang="en-US" sz="3600" dirty="0">
              <a:ea typeface="Arial" panose="020B0604020202020204" pitchFamily="34" charset="0"/>
            </a:endParaRPr>
          </a:p>
        </p:txBody>
      </p:sp>
      <p:pic>
        <p:nvPicPr>
          <p:cNvPr id="17411" name="image5.png"/>
          <p:cNvPicPr>
            <a:picLocks noChangeAspect="1"/>
          </p:cNvPicPr>
          <p:nvPr/>
        </p:nvPicPr>
        <p:blipFill>
          <a:blip r:embed="rId1"/>
          <a:stretch>
            <a:fillRect/>
          </a:stretch>
        </p:blipFill>
        <p:spPr>
          <a:xfrm>
            <a:off x="1447800" y="1489075"/>
            <a:ext cx="10058400" cy="4652963"/>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Box 1"/>
          <p:cNvSpPr txBox="1"/>
          <p:nvPr/>
        </p:nvSpPr>
        <p:spPr>
          <a:xfrm>
            <a:off x="1304925" y="452438"/>
            <a:ext cx="9952038"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E-R Diagram</a:t>
            </a:r>
            <a:endParaRPr lang="en-IN" altLang="en-US" sz="4000" b="1" dirty="0">
              <a:latin typeface="Times New Roman" panose="02020603050405020304" pitchFamily="18" charset="0"/>
              <a:ea typeface="Times New Roman" panose="02020603050405020304" pitchFamily="18" charset="0"/>
            </a:endParaRPr>
          </a:p>
        </p:txBody>
      </p:sp>
      <p:pic>
        <p:nvPicPr>
          <p:cNvPr id="18435" name="Picture 1"/>
          <p:cNvPicPr>
            <a:picLocks noChangeAspect="1"/>
          </p:cNvPicPr>
          <p:nvPr/>
        </p:nvPicPr>
        <p:blipFill>
          <a:blip r:embed="rId1"/>
          <a:stretch>
            <a:fillRect/>
          </a:stretch>
        </p:blipFill>
        <p:spPr>
          <a:xfrm>
            <a:off x="1493838" y="1828800"/>
            <a:ext cx="9437687" cy="3830638"/>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Box 1"/>
          <p:cNvSpPr txBox="1"/>
          <p:nvPr/>
        </p:nvSpPr>
        <p:spPr>
          <a:xfrm>
            <a:off x="1295400" y="568325"/>
            <a:ext cx="9890125"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US" altLang="en-US" sz="4000" b="1" dirty="0">
                <a:latin typeface="Times New Roman" panose="02020603050405020304" pitchFamily="18" charset="0"/>
                <a:ea typeface="TimesNewRomanPSMT"/>
              </a:rPr>
              <a:t>Activity Diagram</a:t>
            </a:r>
            <a:endParaRPr lang="en-IN" altLang="en-US" sz="4000" dirty="0">
              <a:ea typeface="Arial" panose="020B0604020202020204" pitchFamily="34" charset="0"/>
            </a:endParaRPr>
          </a:p>
        </p:txBody>
      </p:sp>
      <p:pic>
        <p:nvPicPr>
          <p:cNvPr id="19459" name="image7.png"/>
          <p:cNvPicPr>
            <a:picLocks noChangeAspect="1"/>
          </p:cNvPicPr>
          <p:nvPr/>
        </p:nvPicPr>
        <p:blipFill>
          <a:blip r:embed="rId1"/>
          <a:stretch>
            <a:fillRect/>
          </a:stretch>
        </p:blipFill>
        <p:spPr>
          <a:xfrm>
            <a:off x="1404938" y="1592263"/>
            <a:ext cx="10186987" cy="430053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Box 1"/>
          <p:cNvSpPr txBox="1"/>
          <p:nvPr/>
        </p:nvSpPr>
        <p:spPr>
          <a:xfrm>
            <a:off x="1287463" y="284163"/>
            <a:ext cx="10040937"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System Architecture</a:t>
            </a:r>
            <a:endParaRPr lang="en-IN" altLang="en-US" sz="4000" b="1" dirty="0">
              <a:latin typeface="Times New Roman" panose="02020603050405020304" pitchFamily="18" charset="0"/>
              <a:ea typeface="Times New Roman" panose="02020603050405020304" pitchFamily="18" charset="0"/>
            </a:endParaRPr>
          </a:p>
        </p:txBody>
      </p:sp>
      <p:grpSp>
        <p:nvGrpSpPr>
          <p:cNvPr id="20483" name="Group 1"/>
          <p:cNvGrpSpPr/>
          <p:nvPr/>
        </p:nvGrpSpPr>
        <p:grpSpPr>
          <a:xfrm>
            <a:off x="1870075" y="1393825"/>
            <a:ext cx="3641725" cy="885825"/>
            <a:chOff x="1994" y="1440"/>
            <a:chExt cx="3711" cy="730"/>
          </a:xfrm>
        </p:grpSpPr>
        <p:pic>
          <p:nvPicPr>
            <p:cNvPr id="20508" name="Picture 2"/>
            <p:cNvPicPr>
              <a:picLocks noChangeAspect="1"/>
            </p:cNvPicPr>
            <p:nvPr/>
          </p:nvPicPr>
          <p:blipFill>
            <a:blip r:embed="rId1"/>
            <a:stretch>
              <a:fillRect/>
            </a:stretch>
          </p:blipFill>
          <p:spPr>
            <a:xfrm>
              <a:off x="1994" y="1462"/>
              <a:ext cx="984" cy="708"/>
            </a:xfrm>
            <a:prstGeom prst="rect">
              <a:avLst/>
            </a:prstGeom>
            <a:noFill/>
            <a:ln w="9525">
              <a:noFill/>
            </a:ln>
          </p:spPr>
        </p:pic>
        <p:pic>
          <p:nvPicPr>
            <p:cNvPr id="20509" name="Picture 3"/>
            <p:cNvPicPr>
              <a:picLocks noChangeAspect="1"/>
            </p:cNvPicPr>
            <p:nvPr/>
          </p:nvPicPr>
          <p:blipFill>
            <a:blip r:embed="rId2"/>
            <a:stretch>
              <a:fillRect/>
            </a:stretch>
          </p:blipFill>
          <p:spPr>
            <a:xfrm>
              <a:off x="4522" y="1440"/>
              <a:ext cx="1183" cy="730"/>
            </a:xfrm>
            <a:prstGeom prst="rect">
              <a:avLst/>
            </a:prstGeom>
            <a:noFill/>
            <a:ln w="9525">
              <a:noFill/>
            </a:ln>
          </p:spPr>
        </p:pic>
        <p:grpSp>
          <p:nvGrpSpPr>
            <p:cNvPr id="20510" name="Group 4"/>
            <p:cNvGrpSpPr/>
            <p:nvPr/>
          </p:nvGrpSpPr>
          <p:grpSpPr>
            <a:xfrm>
              <a:off x="2978" y="1746"/>
              <a:ext cx="1542" cy="120"/>
              <a:chOff x="2978" y="1746"/>
              <a:chExt cx="1542" cy="120"/>
            </a:xfrm>
          </p:grpSpPr>
          <p:sp>
            <p:nvSpPr>
              <p:cNvPr id="20511" name="Freeform 107"/>
              <p:cNvSpPr/>
              <p:nvPr/>
            </p:nvSpPr>
            <p:spPr>
              <a:xfrm>
                <a:off x="2978" y="1746"/>
                <a:ext cx="1542" cy="120"/>
              </a:xfrm>
              <a:custGeom>
                <a:avLst/>
                <a:gdLst/>
                <a:ahLst/>
                <a:cxnLst>
                  <a:cxn ang="0">
                    <a:pos x="1523" y="1796"/>
                  </a:cxn>
                  <a:cxn ang="0">
                    <a:pos x="1442" y="1796"/>
                  </a:cxn>
                  <a:cxn ang="0">
                    <a:pos x="1442" y="1816"/>
                  </a:cxn>
                  <a:cxn ang="0">
                    <a:pos x="1422" y="1816"/>
                  </a:cxn>
                  <a:cxn ang="0">
                    <a:pos x="1423" y="1866"/>
                  </a:cxn>
                  <a:cxn ang="0">
                    <a:pos x="1542" y="1805"/>
                  </a:cxn>
                  <a:cxn ang="0">
                    <a:pos x="1523" y="1796"/>
                  </a:cxn>
                </a:cxnLst>
                <a:pathLst>
                  <a:path w="1542" h="120">
                    <a:moveTo>
                      <a:pt x="1523" y="50"/>
                    </a:moveTo>
                    <a:lnTo>
                      <a:pt x="1442" y="50"/>
                    </a:lnTo>
                    <a:lnTo>
                      <a:pt x="1442" y="70"/>
                    </a:lnTo>
                    <a:lnTo>
                      <a:pt x="1422" y="70"/>
                    </a:lnTo>
                    <a:lnTo>
                      <a:pt x="1423" y="120"/>
                    </a:lnTo>
                    <a:lnTo>
                      <a:pt x="1542" y="59"/>
                    </a:lnTo>
                    <a:lnTo>
                      <a:pt x="1523" y="50"/>
                    </a:lnTo>
                    <a:close/>
                  </a:path>
                </a:pathLst>
              </a:custGeom>
              <a:solidFill>
                <a:srgbClr val="000000">
                  <a:alpha val="100000"/>
                </a:srgbClr>
              </a:solidFill>
              <a:ln w="9525">
                <a:noFill/>
              </a:ln>
            </p:spPr>
            <p:txBody>
              <a:bodyPr/>
              <a:p>
                <a:endParaRPr lang="en-GB" altLang="en-US"/>
              </a:p>
            </p:txBody>
          </p:sp>
          <p:sp>
            <p:nvSpPr>
              <p:cNvPr id="20512" name="Freeform 106"/>
              <p:cNvSpPr/>
              <p:nvPr/>
            </p:nvSpPr>
            <p:spPr>
              <a:xfrm>
                <a:off x="2978" y="1746"/>
                <a:ext cx="1542" cy="120"/>
              </a:xfrm>
              <a:custGeom>
                <a:avLst/>
                <a:gdLst/>
                <a:ahLst/>
                <a:cxnLst>
                  <a:cxn ang="0">
                    <a:pos x="1422" y="1796"/>
                  </a:cxn>
                  <a:cxn ang="0">
                    <a:pos x="0" y="1806"/>
                  </a:cxn>
                  <a:cxn ang="0">
                    <a:pos x="0" y="1826"/>
                  </a:cxn>
                  <a:cxn ang="0">
                    <a:pos x="1422" y="1816"/>
                  </a:cxn>
                  <a:cxn ang="0">
                    <a:pos x="1422" y="1796"/>
                  </a:cxn>
                </a:cxnLst>
                <a:pathLst>
                  <a:path w="1542" h="120">
                    <a:moveTo>
                      <a:pt x="1422" y="50"/>
                    </a:moveTo>
                    <a:lnTo>
                      <a:pt x="0" y="60"/>
                    </a:lnTo>
                    <a:lnTo>
                      <a:pt x="0" y="80"/>
                    </a:lnTo>
                    <a:lnTo>
                      <a:pt x="1422" y="70"/>
                    </a:lnTo>
                    <a:lnTo>
                      <a:pt x="1422" y="50"/>
                    </a:lnTo>
                    <a:close/>
                  </a:path>
                </a:pathLst>
              </a:custGeom>
              <a:solidFill>
                <a:srgbClr val="000000">
                  <a:alpha val="100000"/>
                </a:srgbClr>
              </a:solidFill>
              <a:ln w="9525">
                <a:noFill/>
              </a:ln>
            </p:spPr>
            <p:txBody>
              <a:bodyPr/>
              <a:p>
                <a:endParaRPr lang="en-GB" altLang="en-US"/>
              </a:p>
            </p:txBody>
          </p:sp>
          <p:sp>
            <p:nvSpPr>
              <p:cNvPr id="20513" name="Freeform 105"/>
              <p:cNvSpPr/>
              <p:nvPr/>
            </p:nvSpPr>
            <p:spPr>
              <a:xfrm>
                <a:off x="2978" y="1746"/>
                <a:ext cx="1542" cy="120"/>
              </a:xfrm>
              <a:custGeom>
                <a:avLst/>
                <a:gdLst/>
                <a:ahLst/>
                <a:cxnLst>
                  <a:cxn ang="0">
                    <a:pos x="1442" y="1796"/>
                  </a:cxn>
                  <a:cxn ang="0">
                    <a:pos x="1422" y="1796"/>
                  </a:cxn>
                  <a:cxn ang="0">
                    <a:pos x="1422" y="1816"/>
                  </a:cxn>
                  <a:cxn ang="0">
                    <a:pos x="1442" y="1816"/>
                  </a:cxn>
                  <a:cxn ang="0">
                    <a:pos x="1442" y="1796"/>
                  </a:cxn>
                </a:cxnLst>
                <a:pathLst>
                  <a:path w="1542" h="120">
                    <a:moveTo>
                      <a:pt x="1442" y="50"/>
                    </a:moveTo>
                    <a:lnTo>
                      <a:pt x="1422" y="50"/>
                    </a:lnTo>
                    <a:lnTo>
                      <a:pt x="1422" y="70"/>
                    </a:lnTo>
                    <a:lnTo>
                      <a:pt x="1442" y="70"/>
                    </a:lnTo>
                    <a:lnTo>
                      <a:pt x="1442" y="50"/>
                    </a:lnTo>
                    <a:close/>
                  </a:path>
                </a:pathLst>
              </a:custGeom>
              <a:solidFill>
                <a:srgbClr val="000000">
                  <a:alpha val="100000"/>
                </a:srgbClr>
              </a:solidFill>
              <a:ln w="9525">
                <a:noFill/>
              </a:ln>
            </p:spPr>
            <p:txBody>
              <a:bodyPr/>
              <a:p>
                <a:endParaRPr lang="en-GB" altLang="en-US"/>
              </a:p>
            </p:txBody>
          </p:sp>
          <p:sp>
            <p:nvSpPr>
              <p:cNvPr id="20514" name="Freeform 104"/>
              <p:cNvSpPr/>
              <p:nvPr/>
            </p:nvSpPr>
            <p:spPr>
              <a:xfrm>
                <a:off x="2978" y="1746"/>
                <a:ext cx="1542" cy="120"/>
              </a:xfrm>
              <a:custGeom>
                <a:avLst/>
                <a:gdLst/>
                <a:ahLst/>
                <a:cxnLst>
                  <a:cxn ang="0">
                    <a:pos x="1422" y="1746"/>
                  </a:cxn>
                  <a:cxn ang="0">
                    <a:pos x="1422" y="1796"/>
                  </a:cxn>
                  <a:cxn ang="0">
                    <a:pos x="1523" y="1796"/>
                  </a:cxn>
                  <a:cxn ang="0">
                    <a:pos x="1422" y="1746"/>
                  </a:cxn>
                </a:cxnLst>
                <a:pathLst>
                  <a:path w="1542" h="120">
                    <a:moveTo>
                      <a:pt x="1422" y="0"/>
                    </a:moveTo>
                    <a:lnTo>
                      <a:pt x="1422" y="50"/>
                    </a:lnTo>
                    <a:lnTo>
                      <a:pt x="1523" y="50"/>
                    </a:lnTo>
                    <a:lnTo>
                      <a:pt x="1422" y="0"/>
                    </a:lnTo>
                    <a:close/>
                  </a:path>
                </a:pathLst>
              </a:custGeom>
              <a:solidFill>
                <a:srgbClr val="000000">
                  <a:alpha val="100000"/>
                </a:srgbClr>
              </a:solidFill>
              <a:ln w="9525">
                <a:noFill/>
              </a:ln>
            </p:spPr>
            <p:txBody>
              <a:bodyPr/>
              <a:p>
                <a:endParaRPr lang="en-GB" altLang="en-US"/>
              </a:p>
            </p:txBody>
          </p:sp>
        </p:grpSp>
      </p:grpSp>
      <p:grpSp>
        <p:nvGrpSpPr>
          <p:cNvPr id="20484" name="Group 9"/>
          <p:cNvGrpSpPr/>
          <p:nvPr/>
        </p:nvGrpSpPr>
        <p:grpSpPr>
          <a:xfrm>
            <a:off x="3343275" y="1420813"/>
            <a:ext cx="5929313" cy="2706687"/>
            <a:chOff x="0" y="0"/>
            <a:chExt cx="6737" cy="2431"/>
          </a:xfrm>
        </p:grpSpPr>
        <p:pic>
          <p:nvPicPr>
            <p:cNvPr id="20486" name="Picture 10"/>
            <p:cNvPicPr>
              <a:picLocks noChangeAspect="1"/>
            </p:cNvPicPr>
            <p:nvPr/>
          </p:nvPicPr>
          <p:blipFill>
            <a:blip r:embed="rId3"/>
            <a:stretch>
              <a:fillRect/>
            </a:stretch>
          </p:blipFill>
          <p:spPr>
            <a:xfrm>
              <a:off x="1238" y="1550"/>
              <a:ext cx="1027" cy="881"/>
            </a:xfrm>
            <a:prstGeom prst="rect">
              <a:avLst/>
            </a:prstGeom>
            <a:noFill/>
            <a:ln w="9525">
              <a:noFill/>
            </a:ln>
          </p:spPr>
        </p:pic>
        <p:grpSp>
          <p:nvGrpSpPr>
            <p:cNvPr id="20487" name="Group 11"/>
            <p:cNvGrpSpPr/>
            <p:nvPr/>
          </p:nvGrpSpPr>
          <p:grpSpPr>
            <a:xfrm>
              <a:off x="0" y="741"/>
              <a:ext cx="5364" cy="1481"/>
              <a:chOff x="0" y="741"/>
              <a:chExt cx="5364" cy="1481"/>
            </a:xfrm>
          </p:grpSpPr>
          <p:sp>
            <p:nvSpPr>
              <p:cNvPr id="20502" name="Freeform 94"/>
              <p:cNvSpPr/>
              <p:nvPr/>
            </p:nvSpPr>
            <p:spPr>
              <a:xfrm>
                <a:off x="1691" y="741"/>
                <a:ext cx="120" cy="810"/>
              </a:xfrm>
              <a:custGeom>
                <a:avLst/>
                <a:gdLst/>
                <a:ahLst/>
                <a:cxnLst>
                  <a:cxn ang="0">
                    <a:pos x="0" y="1430"/>
                  </a:cxn>
                  <a:cxn ang="0">
                    <a:pos x="59" y="1551"/>
                  </a:cxn>
                  <a:cxn ang="0">
                    <a:pos x="110" y="1451"/>
                  </a:cxn>
                  <a:cxn ang="0">
                    <a:pos x="70" y="1451"/>
                  </a:cxn>
                  <a:cxn ang="0">
                    <a:pos x="50" y="1450"/>
                  </a:cxn>
                  <a:cxn ang="0">
                    <a:pos x="50" y="1430"/>
                  </a:cxn>
                  <a:cxn ang="0">
                    <a:pos x="0" y="1430"/>
                  </a:cxn>
                </a:cxnLst>
                <a:pathLst>
                  <a:path w="120" h="810">
                    <a:moveTo>
                      <a:pt x="0" y="689"/>
                    </a:moveTo>
                    <a:lnTo>
                      <a:pt x="59" y="810"/>
                    </a:lnTo>
                    <a:lnTo>
                      <a:pt x="110" y="710"/>
                    </a:lnTo>
                    <a:lnTo>
                      <a:pt x="70" y="710"/>
                    </a:lnTo>
                    <a:lnTo>
                      <a:pt x="50" y="709"/>
                    </a:lnTo>
                    <a:lnTo>
                      <a:pt x="50" y="689"/>
                    </a:lnTo>
                    <a:lnTo>
                      <a:pt x="0" y="689"/>
                    </a:lnTo>
                    <a:close/>
                  </a:path>
                </a:pathLst>
              </a:custGeom>
              <a:solidFill>
                <a:srgbClr val="000000">
                  <a:alpha val="100000"/>
                </a:srgbClr>
              </a:solidFill>
              <a:ln w="9525">
                <a:noFill/>
              </a:ln>
            </p:spPr>
            <p:txBody>
              <a:bodyPr/>
              <a:p>
                <a:endParaRPr lang="en-GB" altLang="en-US"/>
              </a:p>
            </p:txBody>
          </p:sp>
          <p:sp>
            <p:nvSpPr>
              <p:cNvPr id="20503" name="Freeform 93"/>
              <p:cNvSpPr/>
              <p:nvPr/>
            </p:nvSpPr>
            <p:spPr>
              <a:xfrm>
                <a:off x="1691" y="741"/>
                <a:ext cx="120" cy="810"/>
              </a:xfrm>
              <a:custGeom>
                <a:avLst/>
                <a:gdLst/>
                <a:ahLst/>
                <a:cxnLst>
                  <a:cxn ang="0">
                    <a:pos x="50" y="1430"/>
                  </a:cxn>
                  <a:cxn ang="0">
                    <a:pos x="50" y="1450"/>
                  </a:cxn>
                  <a:cxn ang="0">
                    <a:pos x="70" y="1451"/>
                  </a:cxn>
                  <a:cxn ang="0">
                    <a:pos x="70" y="1431"/>
                  </a:cxn>
                  <a:cxn ang="0">
                    <a:pos x="50" y="1430"/>
                  </a:cxn>
                </a:cxnLst>
                <a:pathLst>
                  <a:path w="120" h="810">
                    <a:moveTo>
                      <a:pt x="50" y="689"/>
                    </a:moveTo>
                    <a:lnTo>
                      <a:pt x="50" y="709"/>
                    </a:lnTo>
                    <a:lnTo>
                      <a:pt x="70" y="710"/>
                    </a:lnTo>
                    <a:lnTo>
                      <a:pt x="70" y="690"/>
                    </a:lnTo>
                    <a:lnTo>
                      <a:pt x="50" y="689"/>
                    </a:lnTo>
                    <a:close/>
                  </a:path>
                </a:pathLst>
              </a:custGeom>
              <a:solidFill>
                <a:srgbClr val="000000">
                  <a:alpha val="100000"/>
                </a:srgbClr>
              </a:solidFill>
              <a:ln w="9525">
                <a:noFill/>
              </a:ln>
            </p:spPr>
            <p:txBody>
              <a:bodyPr/>
              <a:p>
                <a:endParaRPr lang="en-GB" altLang="en-US"/>
              </a:p>
            </p:txBody>
          </p:sp>
          <p:sp>
            <p:nvSpPr>
              <p:cNvPr id="20504" name="Freeform 92"/>
              <p:cNvSpPr/>
              <p:nvPr/>
            </p:nvSpPr>
            <p:spPr>
              <a:xfrm>
                <a:off x="1691" y="741"/>
                <a:ext cx="120" cy="810"/>
              </a:xfrm>
              <a:custGeom>
                <a:avLst/>
                <a:gdLst/>
                <a:ahLst/>
                <a:cxnLst>
                  <a:cxn ang="0">
                    <a:pos x="70" y="1431"/>
                  </a:cxn>
                  <a:cxn ang="0">
                    <a:pos x="70" y="1451"/>
                  </a:cxn>
                  <a:cxn ang="0">
                    <a:pos x="110" y="1451"/>
                  </a:cxn>
                  <a:cxn ang="0">
                    <a:pos x="120" y="1431"/>
                  </a:cxn>
                  <a:cxn ang="0">
                    <a:pos x="70" y="1431"/>
                  </a:cxn>
                </a:cxnLst>
                <a:pathLst>
                  <a:path w="120" h="810">
                    <a:moveTo>
                      <a:pt x="70" y="690"/>
                    </a:moveTo>
                    <a:lnTo>
                      <a:pt x="70" y="710"/>
                    </a:lnTo>
                    <a:lnTo>
                      <a:pt x="110" y="710"/>
                    </a:lnTo>
                    <a:lnTo>
                      <a:pt x="120" y="690"/>
                    </a:lnTo>
                    <a:lnTo>
                      <a:pt x="70" y="690"/>
                    </a:lnTo>
                    <a:close/>
                  </a:path>
                </a:pathLst>
              </a:custGeom>
              <a:solidFill>
                <a:srgbClr val="000000">
                  <a:alpha val="100000"/>
                </a:srgbClr>
              </a:solidFill>
              <a:ln w="9525">
                <a:noFill/>
              </a:ln>
            </p:spPr>
            <p:txBody>
              <a:bodyPr/>
              <a:p>
                <a:endParaRPr lang="en-GB" altLang="en-US"/>
              </a:p>
            </p:txBody>
          </p:sp>
          <p:sp>
            <p:nvSpPr>
              <p:cNvPr id="20505" name="Freeform 91"/>
              <p:cNvSpPr/>
              <p:nvPr/>
            </p:nvSpPr>
            <p:spPr>
              <a:xfrm>
                <a:off x="1691" y="741"/>
                <a:ext cx="120" cy="810"/>
              </a:xfrm>
              <a:custGeom>
                <a:avLst/>
                <a:gdLst/>
                <a:ahLst/>
                <a:cxnLst>
                  <a:cxn ang="0">
                    <a:pos x="59" y="741"/>
                  </a:cxn>
                  <a:cxn ang="0">
                    <a:pos x="50" y="1430"/>
                  </a:cxn>
                  <a:cxn ang="0">
                    <a:pos x="70" y="1431"/>
                  </a:cxn>
                  <a:cxn ang="0">
                    <a:pos x="79" y="742"/>
                  </a:cxn>
                  <a:cxn ang="0">
                    <a:pos x="59" y="741"/>
                  </a:cxn>
                </a:cxnLst>
                <a:pathLst>
                  <a:path w="120" h="810">
                    <a:moveTo>
                      <a:pt x="59" y="0"/>
                    </a:moveTo>
                    <a:lnTo>
                      <a:pt x="50" y="689"/>
                    </a:lnTo>
                    <a:lnTo>
                      <a:pt x="70" y="690"/>
                    </a:lnTo>
                    <a:lnTo>
                      <a:pt x="79" y="1"/>
                    </a:lnTo>
                    <a:lnTo>
                      <a:pt x="59" y="0"/>
                    </a:lnTo>
                    <a:close/>
                  </a:path>
                </a:pathLst>
              </a:custGeom>
              <a:solidFill>
                <a:srgbClr val="000000">
                  <a:alpha val="100000"/>
                </a:srgbClr>
              </a:solidFill>
              <a:ln w="9525">
                <a:noFill/>
              </a:ln>
            </p:spPr>
            <p:txBody>
              <a:bodyPr/>
              <a:p>
                <a:endParaRPr lang="en-GB" altLang="en-US"/>
              </a:p>
            </p:txBody>
          </p:sp>
          <p:pic>
            <p:nvPicPr>
              <p:cNvPr id="20506" name="Picture 30"/>
              <p:cNvPicPr>
                <a:picLocks noChangeAspect="1"/>
              </p:cNvPicPr>
              <p:nvPr/>
            </p:nvPicPr>
            <p:blipFill>
              <a:blip r:embed="rId4"/>
              <a:stretch>
                <a:fillRect/>
              </a:stretch>
            </p:blipFill>
            <p:spPr>
              <a:xfrm>
                <a:off x="0" y="823"/>
                <a:ext cx="1865" cy="454"/>
              </a:xfrm>
              <a:prstGeom prst="rect">
                <a:avLst/>
              </a:prstGeom>
              <a:noFill/>
              <a:ln w="9525">
                <a:noFill/>
              </a:ln>
            </p:spPr>
          </p:pic>
          <p:pic>
            <p:nvPicPr>
              <p:cNvPr id="20507" name="Picture 31"/>
              <p:cNvPicPr>
                <a:picLocks noChangeAspect="1"/>
              </p:cNvPicPr>
              <p:nvPr/>
            </p:nvPicPr>
            <p:blipFill>
              <a:blip r:embed="rId5"/>
              <a:stretch>
                <a:fillRect/>
              </a:stretch>
            </p:blipFill>
            <p:spPr>
              <a:xfrm>
                <a:off x="3113" y="1766"/>
                <a:ext cx="2251" cy="456"/>
              </a:xfrm>
              <a:prstGeom prst="rect">
                <a:avLst/>
              </a:prstGeom>
              <a:noFill/>
              <a:ln w="9525">
                <a:noFill/>
              </a:ln>
            </p:spPr>
          </p:pic>
        </p:grpSp>
        <p:grpSp>
          <p:nvGrpSpPr>
            <p:cNvPr id="20488" name="Group 12"/>
            <p:cNvGrpSpPr/>
            <p:nvPr/>
          </p:nvGrpSpPr>
          <p:grpSpPr>
            <a:xfrm>
              <a:off x="2266" y="79"/>
              <a:ext cx="4464" cy="1975"/>
              <a:chOff x="2266" y="79"/>
              <a:chExt cx="4464" cy="1975"/>
            </a:xfrm>
          </p:grpSpPr>
          <p:sp>
            <p:nvSpPr>
              <p:cNvPr id="20498" name="Freeform 87"/>
              <p:cNvSpPr/>
              <p:nvPr/>
            </p:nvSpPr>
            <p:spPr>
              <a:xfrm>
                <a:off x="2266" y="1934"/>
                <a:ext cx="841" cy="120"/>
              </a:xfrm>
              <a:custGeom>
                <a:avLst/>
                <a:gdLst/>
                <a:ahLst/>
                <a:cxnLst>
                  <a:cxn ang="0">
                    <a:pos x="720" y="1934"/>
                  </a:cxn>
                  <a:cxn ang="0">
                    <a:pos x="720" y="1984"/>
                  </a:cxn>
                  <a:cxn ang="0">
                    <a:pos x="740" y="1984"/>
                  </a:cxn>
                  <a:cxn ang="0">
                    <a:pos x="740" y="2004"/>
                  </a:cxn>
                  <a:cxn ang="0">
                    <a:pos x="720" y="2004"/>
                  </a:cxn>
                  <a:cxn ang="0">
                    <a:pos x="720" y="2054"/>
                  </a:cxn>
                  <a:cxn ang="0">
                    <a:pos x="821" y="2004"/>
                  </a:cxn>
                  <a:cxn ang="0">
                    <a:pos x="740" y="2004"/>
                  </a:cxn>
                  <a:cxn ang="0">
                    <a:pos x="821" y="2004"/>
                  </a:cxn>
                  <a:cxn ang="0">
                    <a:pos x="840" y="1994"/>
                  </a:cxn>
                  <a:cxn ang="0">
                    <a:pos x="720" y="1934"/>
                  </a:cxn>
                </a:cxnLst>
                <a:pathLst>
                  <a:path w="841" h="120">
                    <a:moveTo>
                      <a:pt x="720" y="0"/>
                    </a:moveTo>
                    <a:lnTo>
                      <a:pt x="720" y="50"/>
                    </a:lnTo>
                    <a:lnTo>
                      <a:pt x="740" y="50"/>
                    </a:lnTo>
                    <a:lnTo>
                      <a:pt x="740" y="70"/>
                    </a:lnTo>
                    <a:lnTo>
                      <a:pt x="720" y="70"/>
                    </a:lnTo>
                    <a:lnTo>
                      <a:pt x="720" y="120"/>
                    </a:lnTo>
                    <a:lnTo>
                      <a:pt x="821" y="70"/>
                    </a:lnTo>
                    <a:lnTo>
                      <a:pt x="740" y="70"/>
                    </a:lnTo>
                    <a:lnTo>
                      <a:pt x="821" y="70"/>
                    </a:lnTo>
                    <a:lnTo>
                      <a:pt x="840" y="60"/>
                    </a:lnTo>
                    <a:lnTo>
                      <a:pt x="720" y="0"/>
                    </a:lnTo>
                    <a:close/>
                  </a:path>
                </a:pathLst>
              </a:custGeom>
              <a:solidFill>
                <a:srgbClr val="000000">
                  <a:alpha val="100000"/>
                </a:srgbClr>
              </a:solidFill>
              <a:ln w="9525">
                <a:noFill/>
              </a:ln>
            </p:spPr>
            <p:txBody>
              <a:bodyPr/>
              <a:p>
                <a:endParaRPr lang="en-GB" altLang="en-US"/>
              </a:p>
            </p:txBody>
          </p:sp>
          <p:sp>
            <p:nvSpPr>
              <p:cNvPr id="20499" name="Freeform 86"/>
              <p:cNvSpPr/>
              <p:nvPr/>
            </p:nvSpPr>
            <p:spPr>
              <a:xfrm>
                <a:off x="2266" y="1934"/>
                <a:ext cx="841" cy="120"/>
              </a:xfrm>
              <a:custGeom>
                <a:avLst/>
                <a:gdLst/>
                <a:ahLst/>
                <a:cxnLst>
                  <a:cxn ang="0">
                    <a:pos x="720" y="1984"/>
                  </a:cxn>
                  <a:cxn ang="0">
                    <a:pos x="720" y="2004"/>
                  </a:cxn>
                  <a:cxn ang="0">
                    <a:pos x="740" y="2004"/>
                  </a:cxn>
                  <a:cxn ang="0">
                    <a:pos x="740" y="1984"/>
                  </a:cxn>
                  <a:cxn ang="0">
                    <a:pos x="720" y="1984"/>
                  </a:cxn>
                </a:cxnLst>
                <a:pathLst>
                  <a:path w="841" h="120">
                    <a:moveTo>
                      <a:pt x="720" y="50"/>
                    </a:moveTo>
                    <a:lnTo>
                      <a:pt x="720" y="70"/>
                    </a:lnTo>
                    <a:lnTo>
                      <a:pt x="740" y="70"/>
                    </a:lnTo>
                    <a:lnTo>
                      <a:pt x="740" y="50"/>
                    </a:lnTo>
                    <a:lnTo>
                      <a:pt x="720" y="50"/>
                    </a:lnTo>
                    <a:close/>
                  </a:path>
                </a:pathLst>
              </a:custGeom>
              <a:solidFill>
                <a:srgbClr val="000000">
                  <a:alpha val="100000"/>
                </a:srgbClr>
              </a:solidFill>
              <a:ln w="9525">
                <a:noFill/>
              </a:ln>
            </p:spPr>
            <p:txBody>
              <a:bodyPr/>
              <a:p>
                <a:endParaRPr lang="en-GB" altLang="en-US"/>
              </a:p>
            </p:txBody>
          </p:sp>
          <p:sp>
            <p:nvSpPr>
              <p:cNvPr id="20500" name="Freeform 85"/>
              <p:cNvSpPr/>
              <p:nvPr/>
            </p:nvSpPr>
            <p:spPr>
              <a:xfrm>
                <a:off x="2266" y="1934"/>
                <a:ext cx="841" cy="120"/>
              </a:xfrm>
              <a:custGeom>
                <a:avLst/>
                <a:gdLst/>
                <a:ahLst/>
                <a:cxnLst>
                  <a:cxn ang="0">
                    <a:pos x="0" y="1982"/>
                  </a:cxn>
                  <a:cxn ang="0">
                    <a:pos x="0" y="2002"/>
                  </a:cxn>
                  <a:cxn ang="0">
                    <a:pos x="720" y="2004"/>
                  </a:cxn>
                  <a:cxn ang="0">
                    <a:pos x="720" y="1984"/>
                  </a:cxn>
                  <a:cxn ang="0">
                    <a:pos x="0" y="1982"/>
                  </a:cxn>
                </a:cxnLst>
                <a:pathLst>
                  <a:path w="841" h="120">
                    <a:moveTo>
                      <a:pt x="0" y="48"/>
                    </a:moveTo>
                    <a:lnTo>
                      <a:pt x="0" y="68"/>
                    </a:lnTo>
                    <a:lnTo>
                      <a:pt x="720" y="70"/>
                    </a:lnTo>
                    <a:lnTo>
                      <a:pt x="720" y="50"/>
                    </a:lnTo>
                    <a:lnTo>
                      <a:pt x="0" y="48"/>
                    </a:lnTo>
                    <a:close/>
                  </a:path>
                </a:pathLst>
              </a:custGeom>
              <a:solidFill>
                <a:srgbClr val="000000">
                  <a:alpha val="100000"/>
                </a:srgbClr>
              </a:solidFill>
              <a:ln w="9525">
                <a:noFill/>
              </a:ln>
            </p:spPr>
            <p:txBody>
              <a:bodyPr/>
              <a:p>
                <a:endParaRPr lang="en-GB" altLang="en-US"/>
              </a:p>
            </p:txBody>
          </p:sp>
          <p:pic>
            <p:nvPicPr>
              <p:cNvPr id="20501" name="Picture 25"/>
              <p:cNvPicPr>
                <a:picLocks noChangeAspect="1"/>
              </p:cNvPicPr>
              <p:nvPr/>
            </p:nvPicPr>
            <p:blipFill>
              <a:blip r:embed="rId6"/>
              <a:stretch>
                <a:fillRect/>
              </a:stretch>
            </p:blipFill>
            <p:spPr>
              <a:xfrm>
                <a:off x="4584" y="79"/>
                <a:ext cx="2146" cy="583"/>
              </a:xfrm>
              <a:prstGeom prst="rect">
                <a:avLst/>
              </a:prstGeom>
              <a:noFill/>
              <a:ln w="9525">
                <a:noFill/>
              </a:ln>
            </p:spPr>
          </p:pic>
        </p:grpSp>
        <p:grpSp>
          <p:nvGrpSpPr>
            <p:cNvPr id="20489" name="Group 13"/>
            <p:cNvGrpSpPr/>
            <p:nvPr/>
          </p:nvGrpSpPr>
          <p:grpSpPr>
            <a:xfrm>
              <a:off x="204" y="0"/>
              <a:ext cx="6533" cy="2302"/>
              <a:chOff x="204" y="0"/>
              <a:chExt cx="6533" cy="2302"/>
            </a:xfrm>
          </p:grpSpPr>
          <p:sp>
            <p:nvSpPr>
              <p:cNvPr id="20490" name="Freeform 82"/>
              <p:cNvSpPr/>
              <p:nvPr/>
            </p:nvSpPr>
            <p:spPr>
              <a:xfrm>
                <a:off x="4231" y="312"/>
                <a:ext cx="347" cy="1376"/>
              </a:xfrm>
              <a:custGeom>
                <a:avLst/>
                <a:gdLst/>
                <a:ahLst/>
                <a:cxnLst>
                  <a:cxn ang="0">
                    <a:pos x="227" y="362"/>
                  </a:cxn>
                  <a:cxn ang="0">
                    <a:pos x="0" y="362"/>
                  </a:cxn>
                  <a:cxn ang="0">
                    <a:pos x="0" y="1687"/>
                  </a:cxn>
                  <a:cxn ang="0">
                    <a:pos x="20" y="1687"/>
                  </a:cxn>
                  <a:cxn ang="0">
                    <a:pos x="20" y="382"/>
                  </a:cxn>
                  <a:cxn ang="0">
                    <a:pos x="10" y="382"/>
                  </a:cxn>
                  <a:cxn ang="0">
                    <a:pos x="20" y="372"/>
                  </a:cxn>
                  <a:cxn ang="0">
                    <a:pos x="227" y="372"/>
                  </a:cxn>
                  <a:cxn ang="0">
                    <a:pos x="227" y="362"/>
                  </a:cxn>
                </a:cxnLst>
                <a:pathLst>
                  <a:path w="347" h="1376">
                    <a:moveTo>
                      <a:pt x="227" y="50"/>
                    </a:moveTo>
                    <a:lnTo>
                      <a:pt x="0" y="50"/>
                    </a:lnTo>
                    <a:lnTo>
                      <a:pt x="0" y="1375"/>
                    </a:lnTo>
                    <a:lnTo>
                      <a:pt x="20" y="1375"/>
                    </a:lnTo>
                    <a:lnTo>
                      <a:pt x="20" y="70"/>
                    </a:lnTo>
                    <a:lnTo>
                      <a:pt x="10" y="70"/>
                    </a:lnTo>
                    <a:lnTo>
                      <a:pt x="20" y="60"/>
                    </a:lnTo>
                    <a:lnTo>
                      <a:pt x="227" y="60"/>
                    </a:lnTo>
                    <a:lnTo>
                      <a:pt x="227" y="50"/>
                    </a:lnTo>
                    <a:close/>
                  </a:path>
                </a:pathLst>
              </a:custGeom>
              <a:solidFill>
                <a:srgbClr val="000000">
                  <a:alpha val="100000"/>
                </a:srgbClr>
              </a:solidFill>
              <a:ln w="9525">
                <a:noFill/>
              </a:ln>
            </p:spPr>
            <p:txBody>
              <a:bodyPr/>
              <a:p>
                <a:endParaRPr lang="en-GB" altLang="en-US"/>
              </a:p>
            </p:txBody>
          </p:sp>
          <p:sp>
            <p:nvSpPr>
              <p:cNvPr id="20491" name="Freeform 81"/>
              <p:cNvSpPr/>
              <p:nvPr/>
            </p:nvSpPr>
            <p:spPr>
              <a:xfrm>
                <a:off x="4231" y="312"/>
                <a:ext cx="347" cy="1376"/>
              </a:xfrm>
              <a:custGeom>
                <a:avLst/>
                <a:gdLst/>
                <a:ahLst/>
                <a:cxnLst>
                  <a:cxn ang="0">
                    <a:pos x="227" y="312"/>
                  </a:cxn>
                  <a:cxn ang="0">
                    <a:pos x="227" y="432"/>
                  </a:cxn>
                  <a:cxn ang="0">
                    <a:pos x="327" y="382"/>
                  </a:cxn>
                  <a:cxn ang="0">
                    <a:pos x="247" y="382"/>
                  </a:cxn>
                  <a:cxn ang="0">
                    <a:pos x="247" y="362"/>
                  </a:cxn>
                  <a:cxn ang="0">
                    <a:pos x="327" y="362"/>
                  </a:cxn>
                  <a:cxn ang="0">
                    <a:pos x="227" y="312"/>
                  </a:cxn>
                </a:cxnLst>
                <a:pathLst>
                  <a:path w="347" h="1376">
                    <a:moveTo>
                      <a:pt x="227" y="0"/>
                    </a:moveTo>
                    <a:lnTo>
                      <a:pt x="227" y="120"/>
                    </a:lnTo>
                    <a:lnTo>
                      <a:pt x="327" y="70"/>
                    </a:lnTo>
                    <a:lnTo>
                      <a:pt x="247" y="70"/>
                    </a:lnTo>
                    <a:lnTo>
                      <a:pt x="247" y="50"/>
                    </a:lnTo>
                    <a:lnTo>
                      <a:pt x="327" y="50"/>
                    </a:lnTo>
                    <a:lnTo>
                      <a:pt x="227" y="0"/>
                    </a:lnTo>
                    <a:close/>
                  </a:path>
                </a:pathLst>
              </a:custGeom>
              <a:solidFill>
                <a:srgbClr val="000000">
                  <a:alpha val="100000"/>
                </a:srgbClr>
              </a:solidFill>
              <a:ln w="9525">
                <a:noFill/>
              </a:ln>
            </p:spPr>
            <p:txBody>
              <a:bodyPr/>
              <a:p>
                <a:endParaRPr lang="en-GB" altLang="en-US"/>
              </a:p>
            </p:txBody>
          </p:sp>
          <p:sp>
            <p:nvSpPr>
              <p:cNvPr id="20492" name="Freeform 80"/>
              <p:cNvSpPr/>
              <p:nvPr/>
            </p:nvSpPr>
            <p:spPr>
              <a:xfrm>
                <a:off x="4231" y="312"/>
                <a:ext cx="347" cy="1376"/>
              </a:xfrm>
              <a:custGeom>
                <a:avLst/>
                <a:gdLst/>
                <a:ahLst/>
                <a:cxnLst>
                  <a:cxn ang="0">
                    <a:pos x="20" y="372"/>
                  </a:cxn>
                  <a:cxn ang="0">
                    <a:pos x="10" y="382"/>
                  </a:cxn>
                  <a:cxn ang="0">
                    <a:pos x="20" y="382"/>
                  </a:cxn>
                  <a:cxn ang="0">
                    <a:pos x="20" y="372"/>
                  </a:cxn>
                </a:cxnLst>
                <a:pathLst>
                  <a:path w="347" h="1376">
                    <a:moveTo>
                      <a:pt x="20" y="60"/>
                    </a:moveTo>
                    <a:lnTo>
                      <a:pt x="10" y="70"/>
                    </a:lnTo>
                    <a:lnTo>
                      <a:pt x="20" y="70"/>
                    </a:lnTo>
                    <a:lnTo>
                      <a:pt x="20" y="60"/>
                    </a:lnTo>
                    <a:close/>
                  </a:path>
                </a:pathLst>
              </a:custGeom>
              <a:solidFill>
                <a:srgbClr val="000000">
                  <a:alpha val="100000"/>
                </a:srgbClr>
              </a:solidFill>
              <a:ln w="9525">
                <a:noFill/>
              </a:ln>
            </p:spPr>
            <p:txBody>
              <a:bodyPr/>
              <a:p>
                <a:endParaRPr lang="en-GB" altLang="en-US"/>
              </a:p>
            </p:txBody>
          </p:sp>
          <p:sp>
            <p:nvSpPr>
              <p:cNvPr id="20493" name="Freeform 79"/>
              <p:cNvSpPr/>
              <p:nvPr/>
            </p:nvSpPr>
            <p:spPr>
              <a:xfrm>
                <a:off x="4231" y="312"/>
                <a:ext cx="347" cy="1376"/>
              </a:xfrm>
              <a:custGeom>
                <a:avLst/>
                <a:gdLst/>
                <a:ahLst/>
                <a:cxnLst>
                  <a:cxn ang="0">
                    <a:pos x="227" y="372"/>
                  </a:cxn>
                  <a:cxn ang="0">
                    <a:pos x="20" y="372"/>
                  </a:cxn>
                  <a:cxn ang="0">
                    <a:pos x="20" y="382"/>
                  </a:cxn>
                  <a:cxn ang="0">
                    <a:pos x="227" y="382"/>
                  </a:cxn>
                  <a:cxn ang="0">
                    <a:pos x="227" y="372"/>
                  </a:cxn>
                </a:cxnLst>
                <a:pathLst>
                  <a:path w="347" h="1376">
                    <a:moveTo>
                      <a:pt x="227" y="60"/>
                    </a:moveTo>
                    <a:lnTo>
                      <a:pt x="20" y="60"/>
                    </a:lnTo>
                    <a:lnTo>
                      <a:pt x="20" y="70"/>
                    </a:lnTo>
                    <a:lnTo>
                      <a:pt x="227" y="70"/>
                    </a:lnTo>
                    <a:lnTo>
                      <a:pt x="227" y="60"/>
                    </a:lnTo>
                    <a:close/>
                  </a:path>
                </a:pathLst>
              </a:custGeom>
              <a:solidFill>
                <a:srgbClr val="000000">
                  <a:alpha val="100000"/>
                </a:srgbClr>
              </a:solidFill>
              <a:ln w="9525">
                <a:noFill/>
              </a:ln>
            </p:spPr>
            <p:txBody>
              <a:bodyPr/>
              <a:p>
                <a:endParaRPr lang="en-GB" altLang="en-US"/>
              </a:p>
            </p:txBody>
          </p:sp>
          <p:sp>
            <p:nvSpPr>
              <p:cNvPr id="20494" name="Freeform 78"/>
              <p:cNvSpPr/>
              <p:nvPr/>
            </p:nvSpPr>
            <p:spPr>
              <a:xfrm>
                <a:off x="4231" y="312"/>
                <a:ext cx="347" cy="1376"/>
              </a:xfrm>
              <a:custGeom>
                <a:avLst/>
                <a:gdLst/>
                <a:ahLst/>
                <a:cxnLst>
                  <a:cxn ang="0">
                    <a:pos x="327" y="362"/>
                  </a:cxn>
                  <a:cxn ang="0">
                    <a:pos x="247" y="362"/>
                  </a:cxn>
                  <a:cxn ang="0">
                    <a:pos x="247" y="382"/>
                  </a:cxn>
                  <a:cxn ang="0">
                    <a:pos x="327" y="382"/>
                  </a:cxn>
                  <a:cxn ang="0">
                    <a:pos x="347" y="372"/>
                  </a:cxn>
                  <a:cxn ang="0">
                    <a:pos x="327" y="362"/>
                  </a:cxn>
                </a:cxnLst>
                <a:pathLst>
                  <a:path w="347" h="1376">
                    <a:moveTo>
                      <a:pt x="327" y="50"/>
                    </a:moveTo>
                    <a:lnTo>
                      <a:pt x="247" y="50"/>
                    </a:lnTo>
                    <a:lnTo>
                      <a:pt x="247" y="70"/>
                    </a:lnTo>
                    <a:lnTo>
                      <a:pt x="327" y="70"/>
                    </a:lnTo>
                    <a:lnTo>
                      <a:pt x="347" y="60"/>
                    </a:lnTo>
                    <a:lnTo>
                      <a:pt x="327" y="50"/>
                    </a:lnTo>
                    <a:close/>
                  </a:path>
                </a:pathLst>
              </a:custGeom>
              <a:solidFill>
                <a:srgbClr val="000000">
                  <a:alpha val="100000"/>
                </a:srgbClr>
              </a:solidFill>
              <a:ln w="9525">
                <a:noFill/>
              </a:ln>
            </p:spPr>
            <p:txBody>
              <a:bodyPr/>
              <a:p>
                <a:endParaRPr lang="en-GB" altLang="en-US"/>
              </a:p>
            </p:txBody>
          </p:sp>
          <p:sp>
            <p:nvSpPr>
              <p:cNvPr id="20495" name="Text Box 77"/>
              <p:cNvSpPr txBox="1"/>
              <p:nvPr/>
            </p:nvSpPr>
            <p:spPr>
              <a:xfrm>
                <a:off x="4576" y="0"/>
                <a:ext cx="2161" cy="743"/>
              </a:xfrm>
              <a:prstGeom prst="rect">
                <a:avLst/>
              </a:prstGeom>
              <a:noFill/>
              <a:ln w="9144" cap="flat" cmpd="sng">
                <a:solidFill>
                  <a:srgbClr val="000000"/>
                </a:solidFill>
                <a:prstDash val="solid"/>
                <a:miter/>
                <a:headEnd type="none" w="med" len="med"/>
                <a:tailEnd type="none" w="med" len="med"/>
              </a:ln>
            </p:spPr>
            <p:txBody>
              <a:bodyPr lIns="0" tIns="0" rIns="0" bIns="0"/>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179705" lvl="0" indent="6350" defTabSz="457200" eaLnBrk="1" hangingPunct="1">
                  <a:lnSpc>
                    <a:spcPct val="102000"/>
                  </a:lnSpc>
                  <a:spcBef>
                    <a:spcPts val="325"/>
                  </a:spcBef>
                  <a:buSzTx/>
                  <a:buFontTx/>
                  <a:buNone/>
                </a:pPr>
                <a:r>
                  <a:rPr lang="en-US" altLang="en-US" sz="1200" dirty="0">
                    <a:solidFill>
                      <a:srgbClr val="000000"/>
                    </a:solidFill>
                    <a:latin typeface="Times New Roman" panose="02020603050405020304" pitchFamily="18" charset="0"/>
                    <a:cs typeface="Calibri" panose="020F0502020204030204" pitchFamily="34" charset="0"/>
                  </a:rPr>
                  <a:t>Crop prediction </a:t>
                </a:r>
                <a:endParaRPr lang="en-US" altLang="en-US" sz="1100" dirty="0">
                  <a:solidFill>
                    <a:srgbClr val="000000"/>
                  </a:solidFill>
                  <a:latin typeface="Calibri" panose="020F0502020204030204" pitchFamily="34" charset="0"/>
                  <a:ea typeface="Calibri" panose="020F0502020204030204" pitchFamily="34" charset="0"/>
                </a:endParaRPr>
              </a:p>
            </p:txBody>
          </p:sp>
          <p:sp>
            <p:nvSpPr>
              <p:cNvPr id="20496" name="Text Box 76"/>
              <p:cNvSpPr txBox="1"/>
              <p:nvPr/>
            </p:nvSpPr>
            <p:spPr>
              <a:xfrm>
                <a:off x="3106" y="1688"/>
                <a:ext cx="2266" cy="615"/>
              </a:xfrm>
              <a:prstGeom prst="rect">
                <a:avLst/>
              </a:prstGeom>
              <a:noFill/>
              <a:ln w="9144" cap="flat" cmpd="sng">
                <a:solidFill>
                  <a:srgbClr val="000000"/>
                </a:solidFill>
                <a:prstDash val="solid"/>
                <a:miter/>
                <a:headEnd type="none" w="med" len="med"/>
                <a:tailEnd type="none" w="med" len="med"/>
              </a:ln>
            </p:spPr>
            <p:txBody>
              <a:bodyPr lIns="0" tIns="0" rIns="0" bIns="0"/>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441325" lvl="0" indent="-260350" defTabSz="457200" eaLnBrk="1" hangingPunct="1">
                  <a:lnSpc>
                    <a:spcPct val="100000"/>
                  </a:lnSpc>
                  <a:spcBef>
                    <a:spcPts val="325"/>
                  </a:spcBef>
                  <a:buSzTx/>
                  <a:buFontTx/>
                  <a:buNone/>
                </a:pPr>
                <a:r>
                  <a:rPr lang="en-US" altLang="en-US" sz="1200" dirty="0">
                    <a:solidFill>
                      <a:srgbClr val="000000"/>
                    </a:solidFill>
                    <a:latin typeface="Times New Roman" panose="02020603050405020304" pitchFamily="18" charset="0"/>
                    <a:cs typeface="Calibri" panose="020F0502020204030204" pitchFamily="34" charset="0"/>
                  </a:rPr>
                  <a:t>Machine learning classifier</a:t>
                </a:r>
                <a:endParaRPr lang="en-US" altLang="en-US" sz="1100" dirty="0">
                  <a:solidFill>
                    <a:srgbClr val="000000"/>
                  </a:solidFill>
                  <a:latin typeface="Calibri" panose="020F0502020204030204" pitchFamily="34" charset="0"/>
                  <a:ea typeface="Calibri" panose="020F0502020204030204" pitchFamily="34" charset="0"/>
                </a:endParaRPr>
              </a:p>
            </p:txBody>
          </p:sp>
          <p:sp>
            <p:nvSpPr>
              <p:cNvPr id="22" name="Text Box 75"/>
              <p:cNvSpPr txBox="1">
                <a:spLocks noChangeArrowheads="1"/>
              </p:cNvSpPr>
              <p:nvPr/>
            </p:nvSpPr>
            <p:spPr bwMode="auto">
              <a:xfrm>
                <a:off x="204" y="847"/>
                <a:ext cx="1461" cy="513"/>
              </a:xfrm>
              <a:prstGeom prst="rect">
                <a:avLst/>
              </a:prstGeom>
              <a:noFill/>
              <a:ln>
                <a:noFill/>
              </a:ln>
            </p:spPr>
            <p:txBody>
              <a:bodyPr lIns="0" tIns="0" rIns="0" bIns="0" upright="1"/>
              <a:lstStyle/>
              <a:p>
                <a:pPr marL="55880" marR="0" indent="-56515" defTabSz="457200" eaLnBrk="1" hangingPunct="1">
                  <a:lnSpc>
                    <a:spcPts val="1220"/>
                  </a:lnSpc>
                  <a:buClrTx/>
                  <a:buSzTx/>
                  <a:buFontTx/>
                  <a:buNone/>
                  <a:defRPr/>
                </a:pPr>
                <a:r>
                  <a:rPr kumimoji="0" lang="en-US" sz="1200" kern="1200" cap="none" spc="0" normalizeH="0" baseline="0" noProof="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(Extracted soil data</a:t>
                </a:r>
                <a:endParaRPr kumimoji="0" lang="en-US" sz="1100" kern="1200" cap="none" spc="0" normalizeH="0" baseline="0" noProof="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5880" marR="0" defTabSz="457200" eaLnBrk="1" hangingPunct="1">
                  <a:lnSpc>
                    <a:spcPts val="1350"/>
                  </a:lnSpc>
                  <a:buClrTx/>
                  <a:buSzTx/>
                  <a:buFontTx/>
                  <a:buNone/>
                  <a:defRPr/>
                </a:pPr>
                <a:r>
                  <a:rPr kumimoji="0" lang="en-US" sz="1200" kern="1200" cap="none" spc="0" normalizeH="0" baseline="0" noProof="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set </a:t>
                </a:r>
                <a:r>
                  <a:rPr kumimoji="0" lang="en-US" sz="1200" kern="1200" cap="none" spc="-5" normalizeH="0" baseline="0" noProof="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from</a:t>
                </a:r>
                <a:r>
                  <a:rPr kumimoji="0" lang="en-US" sz="1200" kern="1200" cap="none" spc="0" normalizeH="0" baseline="0" noProof="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soil)</a:t>
                </a:r>
                <a:endParaRPr kumimoji="0" lang="en-US" sz="1100" kern="1200" cap="none" spc="0" normalizeH="0" baseline="0" noProof="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grpSp>
      <p:sp>
        <p:nvSpPr>
          <p:cNvPr id="20485" name="TextBox 56"/>
          <p:cNvSpPr txBox="1"/>
          <p:nvPr/>
        </p:nvSpPr>
        <p:spPr>
          <a:xfrm>
            <a:off x="3990975" y="4192588"/>
            <a:ext cx="4899025" cy="646112"/>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508000" lvl="0" indent="-339725" defTabSz="457200" eaLnBrk="1" hangingPunct="1">
              <a:lnSpc>
                <a:spcPct val="100000"/>
              </a:lnSpc>
              <a:spcBef>
                <a:spcPct val="0"/>
              </a:spcBef>
              <a:buSzTx/>
              <a:buFontTx/>
              <a:buNone/>
            </a:pPr>
            <a:r>
              <a:rPr lang="en-US" altLang="en-US" sz="1800" dirty="0">
                <a:latin typeface="Times New Roman" panose="02020603050405020304" pitchFamily="18" charset="0"/>
                <a:cs typeface="Calibri" panose="020F0502020204030204" pitchFamily="34" charset="0"/>
              </a:rPr>
              <a:t>Dynamic data</a:t>
            </a:r>
            <a:endParaRPr lang="en-US" altLang="en-US" sz="1800" dirty="0">
              <a:latin typeface="Times New Roman" panose="02020603050405020304" pitchFamily="18" charset="0"/>
              <a:cs typeface="Calibri" panose="020F0502020204030204" pitchFamily="34" charset="0"/>
            </a:endParaRPr>
          </a:p>
          <a:p>
            <a:pPr marL="508000" lvl="0" indent="-339725" defTabSz="457200" eaLnBrk="1" hangingPunct="1">
              <a:lnSpc>
                <a:spcPct val="100000"/>
              </a:lnSpc>
              <a:spcBef>
                <a:spcPct val="0"/>
              </a:spcBef>
              <a:buSzTx/>
              <a:buFontTx/>
              <a:buNone/>
            </a:pPr>
            <a:r>
              <a:rPr lang="en-US" altLang="en-US" sz="1800" dirty="0">
                <a:latin typeface="Times New Roman" panose="02020603050405020304" pitchFamily="18" charset="0"/>
                <a:cs typeface="Calibri" panose="020F0502020204030204" pitchFamily="34" charset="0"/>
              </a:rPr>
              <a:t>      set</a:t>
            </a:r>
            <a:endParaRPr lang="en-US" altLang="en-US" sz="1600" dirty="0">
              <a:latin typeface="Calibri" panose="020F0502020204030204" pitchFamily="34" charset="0"/>
              <a:ea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838325" y="884238"/>
            <a:ext cx="9550400" cy="5415915"/>
          </a:xfrm>
          <a:prstGeom prst="rect">
            <a:avLst/>
          </a:prstGeom>
          <a:noFill/>
        </p:spPr>
        <p:txBody>
          <a:bodyPr>
            <a:spAutoFit/>
          </a:bodyPr>
          <a:lstStyle/>
          <a:p>
            <a:pPr marR="0" defTabSz="457200">
              <a:buClrTx/>
              <a:buSzTx/>
              <a:buFontTx/>
              <a:buNone/>
              <a:defRPr/>
            </a:pPr>
            <a:r>
              <a:rPr kumimoji="0" lang="en-US" sz="4000" b="1" kern="1200" cap="none" spc="0" normalizeH="0" baseline="0" noProof="0" dirty="0">
                <a:latin typeface="Times New Roman" panose="02020603050405020304" pitchFamily="18" charset="0"/>
                <a:ea typeface="+mn-ea"/>
                <a:cs typeface="Times New Roman" panose="02020603050405020304" pitchFamily="18" charset="0"/>
              </a:rPr>
              <a:t>Testing </a:t>
            </a:r>
            <a:r>
              <a:rPr kumimoji="0" lang="en-US" sz="4000" b="1" kern="1200" cap="none" spc="0" normalizeH="0" baseline="0" noProof="0" dirty="0" err="1">
                <a:latin typeface="Times New Roman" panose="02020603050405020304" pitchFamily="18" charset="0"/>
                <a:ea typeface="+mn-ea"/>
                <a:cs typeface="Times New Roman" panose="02020603050405020304" pitchFamily="18" charset="0"/>
              </a:rPr>
              <a:t>Stratergies</a:t>
            </a:r>
            <a:endParaRPr kumimoji="0" lang="en-US" sz="40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endParaRPr kumimoji="0" lang="en-US" sz="28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r>
              <a:rPr kumimoji="0" lang="en-US" sz="2200" b="1" kern="1200" cap="none" spc="0" normalizeH="0" baseline="0" noProof="0" dirty="0">
                <a:latin typeface="Times New Roman" panose="02020603050405020304" pitchFamily="18" charset="0"/>
                <a:ea typeface="+mn-ea"/>
                <a:cs typeface="Times New Roman" panose="02020603050405020304" pitchFamily="18" charset="0"/>
              </a:rPr>
              <a:t>Unit Testing:</a:t>
            </a:r>
            <a:endParaRPr kumimoji="0" lang="en-US" sz="22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endParaRPr kumimoji="0" lang="en-US" sz="2000" b="1" kern="1200" cap="none" spc="0" normalizeH="0" baseline="0" noProof="0" dirty="0">
              <a:latin typeface="Times New Roman" panose="02020603050405020304" pitchFamily="18" charset="0"/>
              <a:ea typeface="+mn-ea"/>
              <a:cs typeface="Times New Roman" panose="02020603050405020304" pitchFamily="18" charset="0"/>
            </a:endParaRPr>
          </a:p>
          <a:p>
            <a:pPr marL="514350" marR="0" indent="-514350" defTabSz="457200">
              <a:buClrTx/>
              <a:buSzTx/>
              <a:buFontTx/>
              <a:buAutoNum type="arabicPeriod"/>
              <a:defRPr/>
            </a:pPr>
            <a:r>
              <a:rPr kumimoji="0" lang="en-US" sz="2000" kern="1200" cap="none" spc="0" normalizeH="0" baseline="0" noProof="0" dirty="0">
                <a:latin typeface="Times New Roman" panose="02020603050405020304" pitchFamily="18" charset="0"/>
                <a:ea typeface="+mn-ea"/>
                <a:cs typeface="Times New Roman" panose="02020603050405020304" pitchFamily="18" charset="0"/>
              </a:rPr>
              <a:t>The source code is normally divided into modules, which in turn are divided into smaller units called units.</a:t>
            </a:r>
            <a:endParaRPr kumimoji="0" lang="en-US" sz="2000" kern="1200" cap="none" spc="0" normalizeH="0" baseline="0" noProof="0" dirty="0">
              <a:latin typeface="Times New Roman" panose="02020603050405020304" pitchFamily="18" charset="0"/>
              <a:ea typeface="+mn-ea"/>
              <a:cs typeface="Times New Roman" panose="02020603050405020304" pitchFamily="18" charset="0"/>
            </a:endParaRPr>
          </a:p>
          <a:p>
            <a:pPr marL="514350" marR="0" indent="-514350" defTabSz="457200">
              <a:buClrTx/>
              <a:buSzTx/>
              <a:buFontTx/>
              <a:buAutoNum type="arabicPeriod"/>
              <a:defRPr/>
            </a:pPr>
            <a:r>
              <a:rPr kumimoji="0" lang="en-US" sz="2000" kern="1200" cap="none" spc="0" normalizeH="0" baseline="0" noProof="0" dirty="0">
                <a:latin typeface="Times New Roman" panose="02020603050405020304" pitchFamily="18" charset="0"/>
                <a:ea typeface="+mn-ea"/>
                <a:cs typeface="Times New Roman" panose="02020603050405020304" pitchFamily="18" charset="0"/>
              </a:rPr>
              <a:t>These units have specific behavior. The test done on these units of code is called unit test.</a:t>
            </a:r>
            <a:endParaRPr kumimoji="0" lang="en-US" sz="2000" kern="1200" cap="none" spc="0" normalizeH="0" baseline="0" noProof="0" dirty="0">
              <a:latin typeface="Times New Roman" panose="02020603050405020304" pitchFamily="18" charset="0"/>
              <a:ea typeface="+mn-ea"/>
              <a:cs typeface="Times New Roman" panose="02020603050405020304" pitchFamily="18" charset="0"/>
            </a:endParaRPr>
          </a:p>
          <a:p>
            <a:pPr marL="514350" marR="0" indent="-514350" defTabSz="457200">
              <a:buClrTx/>
              <a:buSzTx/>
              <a:buFontTx/>
              <a:buAutoNum type="arabicPeriod"/>
              <a:defRPr/>
            </a:pPr>
            <a:r>
              <a:rPr kumimoji="0" lang="en-US" sz="2000" kern="1200" cap="none" spc="0" normalizeH="0" baseline="0" noProof="0" dirty="0">
                <a:latin typeface="Times New Roman" panose="02020603050405020304" pitchFamily="18" charset="0"/>
                <a:ea typeface="+mn-ea"/>
                <a:cs typeface="Times New Roman" panose="02020603050405020304" pitchFamily="18" charset="0"/>
              </a:rPr>
              <a:t>Unit test depends upon the language on which the project is developed.</a:t>
            </a:r>
            <a:endParaRPr kumimoji="0" lang="en-US" sz="20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endParaRPr kumimoji="0" lang="en-US" sz="20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r>
              <a:rPr kumimoji="0" lang="en-US" sz="2200" b="1" kern="1200" cap="none" spc="0" normalizeH="0" baseline="0" noProof="0" dirty="0">
                <a:latin typeface="Times New Roman" panose="02020603050405020304" pitchFamily="18" charset="0"/>
                <a:ea typeface="+mn-ea"/>
                <a:cs typeface="Times New Roman" panose="02020603050405020304" pitchFamily="18" charset="0"/>
              </a:rPr>
              <a:t>System Testing:</a:t>
            </a:r>
            <a:endParaRPr kumimoji="0" lang="en-US" sz="2200" b="1"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endParaRPr kumimoji="0" lang="en-US"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a:buClrTx/>
              <a:buSzTx/>
              <a:buFontTx/>
              <a:buAutoNum type="arabicPeriod"/>
              <a:defRPr/>
            </a:pPr>
            <a:r>
              <a:rPr kumimoji="0" lang="en-US" sz="2000" kern="1200" cap="none" spc="0" normalizeH="0" baseline="0" noProof="0" dirty="0">
                <a:latin typeface="Times New Roman" panose="02020603050405020304" pitchFamily="18" charset="0"/>
                <a:ea typeface="+mn-ea"/>
                <a:cs typeface="Times New Roman" panose="02020603050405020304" pitchFamily="18" charset="0"/>
              </a:rPr>
              <a:t>System testing ensures that the entire integrated software system meets requirements.</a:t>
            </a:r>
            <a:endParaRPr kumimoji="0" lang="en-US" sz="2000" kern="120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457200">
              <a:buClrTx/>
              <a:buSzTx/>
              <a:buFontTx/>
              <a:buAutoNum type="arabicPeriod"/>
              <a:defRPr/>
            </a:pPr>
            <a:r>
              <a:rPr kumimoji="0" lang="en-US" sz="2000" kern="1200" cap="none" spc="0" normalizeH="0" baseline="0" noProof="0" dirty="0">
                <a:latin typeface="Times New Roman" panose="02020603050405020304" pitchFamily="18" charset="0"/>
                <a:ea typeface="+mn-ea"/>
                <a:cs typeface="Times New Roman" panose="02020603050405020304" pitchFamily="18" charset="0"/>
              </a:rPr>
              <a:t>It tests a configuration to ensure known and predictable results.</a:t>
            </a:r>
            <a:endParaRPr kumimoji="0" lang="en-US" sz="2000"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endParaRPr kumimoji="0" lang="en-US" kern="1200" cap="none" spc="0" normalizeH="0" baseline="0" noProof="0" dirty="0">
              <a:latin typeface="Times New Roman" panose="02020603050405020304" pitchFamily="18" charset="0"/>
              <a:ea typeface="+mn-ea"/>
              <a:cs typeface="Times New Roman" panose="02020603050405020304" pitchFamily="18" charset="0"/>
            </a:endParaRPr>
          </a:p>
          <a:p>
            <a:pPr marR="0" defTabSz="457200">
              <a:buClrTx/>
              <a:buSzTx/>
              <a:buFontTx/>
              <a:buNone/>
              <a:defRPr/>
            </a:pPr>
            <a:endParaRPr kumimoji="0" lang="en-US"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Box 2"/>
          <p:cNvSpPr txBox="1"/>
          <p:nvPr/>
        </p:nvSpPr>
        <p:spPr>
          <a:xfrm>
            <a:off x="1611630" y="411480"/>
            <a:ext cx="9556750" cy="6283325"/>
          </a:xfrm>
          <a:prstGeom prst="rect">
            <a:avLst/>
          </a:prstGeom>
          <a:noFill/>
          <a:ln w="9525">
            <a:noFill/>
          </a:ln>
        </p:spPr>
        <p:txBody>
          <a:bodyPr>
            <a:noAutofit/>
          </a:bodyPr>
          <a:p>
            <a:r>
              <a:rPr sz="2400" b="1" dirty="0">
                <a:latin typeface="Times New Roman" panose="02020603050405020304" pitchFamily="18" charset="0"/>
                <a:cs typeface="Times New Roman" panose="02020603050405020304" pitchFamily="18" charset="0"/>
              </a:rPr>
              <a:t>Test Cases:</a:t>
            </a:r>
            <a:endParaRPr sz="2400" b="1" dirty="0">
              <a:latin typeface="Times New Roman" panose="02020603050405020304" pitchFamily="18" charset="0"/>
              <a:cs typeface="Times New Roman" panose="02020603050405020304" pitchFamily="18" charset="0"/>
            </a:endParaRPr>
          </a:p>
          <a:p>
            <a:endParaRPr sz="2400"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Input:</a:t>
            </a:r>
            <a:r>
              <a:rPr dirty="0">
                <a:latin typeface="Times New Roman" panose="02020603050405020304" pitchFamily="18" charset="0"/>
                <a:cs typeface="Times New Roman" panose="02020603050405020304" pitchFamily="18" charset="0"/>
              </a:rPr>
              <a:t> Select a crop that is suitable for the current season and region.</a:t>
            </a: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Expected Output:</a:t>
            </a:r>
            <a:r>
              <a:rPr dirty="0">
                <a:latin typeface="Times New Roman" panose="02020603050405020304" pitchFamily="18" charset="0"/>
                <a:cs typeface="Times New Roman" panose="02020603050405020304" pitchFamily="18" charset="0"/>
              </a:rPr>
              <a:t> The system should recommend the selected crop with a high productivity score.</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Input:</a:t>
            </a:r>
            <a:r>
              <a:rPr dirty="0">
                <a:latin typeface="Times New Roman" panose="02020603050405020304" pitchFamily="18" charset="0"/>
                <a:cs typeface="Times New Roman" panose="02020603050405020304" pitchFamily="18" charset="0"/>
              </a:rPr>
              <a:t> Select a crop that is not suitable for the current season.</a:t>
            </a: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Expected Output:</a:t>
            </a:r>
            <a:r>
              <a:rPr dirty="0">
                <a:latin typeface="Times New Roman" panose="02020603050405020304" pitchFamily="18" charset="0"/>
                <a:cs typeface="Times New Roman" panose="02020603050405020304" pitchFamily="18" charset="0"/>
              </a:rPr>
              <a:t> The system should either not recommend the crop or display a low productivity score.</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Input:</a:t>
            </a:r>
            <a:r>
              <a:rPr dirty="0">
                <a:latin typeface="Times New Roman" panose="02020603050405020304" pitchFamily="18" charset="0"/>
                <a:cs typeface="Times New Roman" panose="02020603050405020304" pitchFamily="18" charset="0"/>
              </a:rPr>
              <a:t> Provide incorrect or missing inputs (e.g., an invalid region or season).</a:t>
            </a: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Expected Output:</a:t>
            </a:r>
            <a:r>
              <a:rPr dirty="0">
                <a:latin typeface="Times New Roman" panose="02020603050405020304" pitchFamily="18" charset="0"/>
                <a:cs typeface="Times New Roman" panose="02020603050405020304" pitchFamily="18" charset="0"/>
              </a:rPr>
              <a:t> The system should display an error message or prompt for correct input.</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Input:</a:t>
            </a:r>
            <a:r>
              <a:rPr dirty="0">
                <a:latin typeface="Times New Roman" panose="02020603050405020304" pitchFamily="18" charset="0"/>
                <a:cs typeface="Times New Roman" panose="02020603050405020304" pitchFamily="18" charset="0"/>
              </a:rPr>
              <a:t> Choose a high-demand cash crop for a given season and location.</a:t>
            </a: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Expected Output:</a:t>
            </a:r>
            <a:r>
              <a:rPr dirty="0">
                <a:latin typeface="Times New Roman" panose="02020603050405020304" pitchFamily="18" charset="0"/>
                <a:cs typeface="Times New Roman" panose="02020603050405020304" pitchFamily="18" charset="0"/>
              </a:rPr>
              <a:t> The system should provide productivity insights and suggest the best time for planting.</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Input:</a:t>
            </a:r>
            <a:r>
              <a:rPr dirty="0">
                <a:latin typeface="Times New Roman" panose="02020603050405020304" pitchFamily="18" charset="0"/>
                <a:cs typeface="Times New Roman" panose="02020603050405020304" pitchFamily="18" charset="0"/>
              </a:rPr>
              <a:t> Enter a specific soil type and check the crop recommendation.</a:t>
            </a: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Expected Output:</a:t>
            </a:r>
            <a:r>
              <a:rPr dirty="0">
                <a:latin typeface="Times New Roman" panose="02020603050405020304" pitchFamily="18" charset="0"/>
                <a:cs typeface="Times New Roman" panose="02020603050405020304" pitchFamily="18" charset="0"/>
              </a:rPr>
              <a:t> The system should recommend crops that thrive in that soil type.</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Box 2"/>
          <p:cNvSpPr txBox="1"/>
          <p:nvPr/>
        </p:nvSpPr>
        <p:spPr>
          <a:xfrm>
            <a:off x="1431925" y="777875"/>
            <a:ext cx="9866313" cy="350837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a:lnSpc>
                <a:spcPct val="100000"/>
              </a:lnSpc>
              <a:spcBef>
                <a:spcPct val="0"/>
              </a:spcBef>
              <a:buSzTx/>
              <a:buFontTx/>
              <a:buNone/>
            </a:pPr>
            <a:r>
              <a:rPr lang="en-US" altLang="en-US" b="1" dirty="0">
                <a:latin typeface="Time new roman"/>
                <a:cs typeface="Arial" panose="020B0604020202020204" pitchFamily="34" charset="0"/>
              </a:rPr>
              <a:t>Screenshots of the project:</a:t>
            </a:r>
            <a:endParaRPr lang="en-US" altLang="en-US" b="1" dirty="0">
              <a:latin typeface="Time new roman"/>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cs typeface="Arial" panose="020B0604020202020204" pitchFamily="34" charset="0"/>
            </a:endParaRPr>
          </a:p>
          <a:p>
            <a:pPr marL="0" lvl="0" indent="0" defTabSz="457200">
              <a:lnSpc>
                <a:spcPct val="100000"/>
              </a:lnSpc>
              <a:spcBef>
                <a:spcPct val="0"/>
              </a:spcBef>
              <a:buSzTx/>
              <a:buFontTx/>
              <a:buNone/>
            </a:pPr>
            <a:endParaRPr lang="en-US" altLang="en-US" sz="1800" dirty="0">
              <a:latin typeface="Arial" panose="020B0604020202020204" pitchFamily="34" charset="0"/>
              <a:ea typeface="Arial" panose="020B0604020202020204" pitchFamily="34" charset="0"/>
            </a:endParaRPr>
          </a:p>
        </p:txBody>
      </p:sp>
      <p:pic>
        <p:nvPicPr>
          <p:cNvPr id="23555" name="Picture 20"/>
          <p:cNvPicPr>
            <a:picLocks noChangeAspect="1"/>
          </p:cNvPicPr>
          <p:nvPr/>
        </p:nvPicPr>
        <p:blipFill>
          <a:blip r:embed="rId1"/>
          <a:stretch>
            <a:fillRect/>
          </a:stretch>
        </p:blipFill>
        <p:spPr>
          <a:xfrm>
            <a:off x="1320800" y="1544638"/>
            <a:ext cx="4225925" cy="2203450"/>
          </a:xfrm>
          <a:prstGeom prst="rect">
            <a:avLst/>
          </a:prstGeom>
          <a:noFill/>
          <a:ln w="9525">
            <a:noFill/>
          </a:ln>
        </p:spPr>
      </p:pic>
      <p:pic>
        <p:nvPicPr>
          <p:cNvPr id="23556" name="Picture 22"/>
          <p:cNvPicPr>
            <a:picLocks noChangeAspect="1"/>
          </p:cNvPicPr>
          <p:nvPr/>
        </p:nvPicPr>
        <p:blipFill>
          <a:blip r:embed="rId2"/>
          <a:stretch>
            <a:fillRect/>
          </a:stretch>
        </p:blipFill>
        <p:spPr>
          <a:xfrm>
            <a:off x="6096000" y="1544638"/>
            <a:ext cx="4598988" cy="2203450"/>
          </a:xfrm>
          <a:prstGeom prst="rect">
            <a:avLst/>
          </a:prstGeom>
          <a:noFill/>
          <a:ln w="9525">
            <a:noFill/>
          </a:ln>
        </p:spPr>
      </p:pic>
      <p:pic>
        <p:nvPicPr>
          <p:cNvPr id="23557" name="Picture 24"/>
          <p:cNvPicPr>
            <a:picLocks noChangeAspect="1"/>
          </p:cNvPicPr>
          <p:nvPr/>
        </p:nvPicPr>
        <p:blipFill>
          <a:blip r:embed="rId3"/>
          <a:stretch>
            <a:fillRect/>
          </a:stretch>
        </p:blipFill>
        <p:spPr>
          <a:xfrm>
            <a:off x="3911600" y="3881438"/>
            <a:ext cx="5286375" cy="28638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2"/>
          <p:cNvPicPr>
            <a:picLocks noChangeAspect="1"/>
          </p:cNvPicPr>
          <p:nvPr/>
        </p:nvPicPr>
        <p:blipFill>
          <a:blip r:embed="rId1"/>
          <a:stretch>
            <a:fillRect/>
          </a:stretch>
        </p:blipFill>
        <p:spPr>
          <a:xfrm>
            <a:off x="549275" y="746125"/>
            <a:ext cx="4978400" cy="2840038"/>
          </a:xfrm>
          <a:prstGeom prst="rect">
            <a:avLst/>
          </a:prstGeom>
          <a:noFill/>
          <a:ln w="9525">
            <a:noFill/>
          </a:ln>
        </p:spPr>
      </p:pic>
      <p:pic>
        <p:nvPicPr>
          <p:cNvPr id="24579" name="Picture 4"/>
          <p:cNvPicPr>
            <a:picLocks noChangeAspect="1"/>
          </p:cNvPicPr>
          <p:nvPr/>
        </p:nvPicPr>
        <p:blipFill>
          <a:blip r:embed="rId2"/>
          <a:stretch>
            <a:fillRect/>
          </a:stretch>
        </p:blipFill>
        <p:spPr>
          <a:xfrm>
            <a:off x="6096000" y="746125"/>
            <a:ext cx="5546725" cy="2840038"/>
          </a:xfrm>
          <a:prstGeom prst="rect">
            <a:avLst/>
          </a:prstGeom>
          <a:noFill/>
          <a:ln w="9525">
            <a:noFill/>
          </a:ln>
        </p:spPr>
      </p:pic>
      <p:pic>
        <p:nvPicPr>
          <p:cNvPr id="24580" name="Picture 6"/>
          <p:cNvPicPr>
            <a:picLocks noChangeAspect="1"/>
          </p:cNvPicPr>
          <p:nvPr/>
        </p:nvPicPr>
        <p:blipFill>
          <a:blip r:embed="rId3"/>
          <a:stretch>
            <a:fillRect/>
          </a:stretch>
        </p:blipFill>
        <p:spPr>
          <a:xfrm>
            <a:off x="549275" y="3840163"/>
            <a:ext cx="4978400" cy="2841625"/>
          </a:xfrm>
          <a:prstGeom prst="rect">
            <a:avLst/>
          </a:prstGeom>
          <a:noFill/>
          <a:ln w="9525">
            <a:noFill/>
          </a:ln>
        </p:spPr>
      </p:pic>
      <p:pic>
        <p:nvPicPr>
          <p:cNvPr id="24581" name="Picture 8"/>
          <p:cNvPicPr>
            <a:picLocks noChangeAspect="1"/>
          </p:cNvPicPr>
          <p:nvPr/>
        </p:nvPicPr>
        <p:blipFill>
          <a:blip r:embed="rId4"/>
          <a:stretch>
            <a:fillRect/>
          </a:stretch>
        </p:blipFill>
        <p:spPr>
          <a:xfrm>
            <a:off x="6086475" y="3759200"/>
            <a:ext cx="5546725" cy="2840038"/>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Box 1"/>
          <p:cNvSpPr txBox="1"/>
          <p:nvPr/>
        </p:nvSpPr>
        <p:spPr>
          <a:xfrm>
            <a:off x="985838" y="531813"/>
            <a:ext cx="9996487"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Conclusion</a:t>
            </a:r>
            <a:endParaRPr lang="en-IN" altLang="en-US" sz="4000" b="1" dirty="0">
              <a:latin typeface="Times New Roman" panose="02020603050405020304" pitchFamily="18" charset="0"/>
              <a:ea typeface="Times New Roman" panose="02020603050405020304" pitchFamily="18" charset="0"/>
            </a:endParaRPr>
          </a:p>
        </p:txBody>
      </p:sp>
      <p:sp>
        <p:nvSpPr>
          <p:cNvPr id="25603" name="Rectangle 4"/>
          <p:cNvSpPr/>
          <p:nvPr/>
        </p:nvSpPr>
        <p:spPr>
          <a:xfrm>
            <a:off x="1087755" y="1108075"/>
            <a:ext cx="9503410" cy="5749290"/>
          </a:xfrm>
          <a:prstGeom prst="rect">
            <a:avLst/>
          </a:prstGeom>
          <a:noFill/>
          <a:ln w="9525">
            <a:noFill/>
          </a:ln>
        </p:spPr>
        <p:txBody>
          <a:bodyPr anchor="ctr" anchorCtr="0">
            <a:no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algn="just" defTabSz="457200">
              <a:lnSpc>
                <a:spcPct val="100000"/>
              </a:lnSpc>
              <a:spcBef>
                <a:spcPct val="0"/>
              </a:spcBef>
              <a:buSzTx/>
              <a:buFontTx/>
              <a:buNone/>
            </a:pPr>
            <a:r>
              <a:rPr lang="en-US" altLang="en-US" dirty="0">
                <a:latin typeface="Times New Roman" panose="02020603050405020304" pitchFamily="18" charset="0"/>
                <a:cs typeface="Times New Roman" panose="02020603050405020304" pitchFamily="18" charset="0"/>
              </a:rPr>
              <a:t>This thesis analyzes agricultural soil data using data mining techniques to improve crop yield predictions. By studying different regression algorithms, it identifies the best approach for analyzing soil data. The system is designed to prevent abnormal conditions from impacting production and manages energy and resources effectively. A remote control feature reduces the farmer's workload by allowing easy monitoring and adjustments in the field. The system also supports wireless monitoring with low power usage, making it accessible for farmers. Key benefits include reducing manual work, handling large data volumes, andmaintaining a smooth workflow. Additionally, farmers can optimize soil by adding nutrients as needed to support specific crop yields</a:t>
            </a:r>
            <a:endParaRPr lang="en-US" altLang="en-US" dirty="0">
              <a:latin typeface="Times New Roman" panose="02020603050405020304" pitchFamily="18" charset="0"/>
              <a:ea typeface="Arial" panose="020B0604020202020204" pitchFamily="34"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Box 1"/>
          <p:cNvSpPr txBox="1"/>
          <p:nvPr/>
        </p:nvSpPr>
        <p:spPr>
          <a:xfrm>
            <a:off x="985838" y="520700"/>
            <a:ext cx="10093325"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Future Enhancements</a:t>
            </a:r>
            <a:endParaRPr lang="en-IN" altLang="en-US" sz="4000" b="1" dirty="0">
              <a:latin typeface="Times New Roman" panose="02020603050405020304" pitchFamily="18" charset="0"/>
              <a:ea typeface="Times New Roman" panose="02020603050405020304" pitchFamily="18" charset="0"/>
            </a:endParaRPr>
          </a:p>
        </p:txBody>
      </p:sp>
      <p:sp>
        <p:nvSpPr>
          <p:cNvPr id="40963" name="TextBox 2"/>
          <p:cNvSpPr txBox="1">
            <a:spLocks noChangeArrowheads="1"/>
          </p:cNvSpPr>
          <p:nvPr/>
        </p:nvSpPr>
        <p:spPr bwMode="auto">
          <a:xfrm>
            <a:off x="1073150" y="1277938"/>
            <a:ext cx="9899650" cy="4341813"/>
          </a:xfrm>
          <a:prstGeom prst="rect">
            <a:avLst/>
          </a:prstGeom>
          <a:noFill/>
          <a:ln>
            <a:noFill/>
          </a:ln>
        </p:spPr>
        <p:txBody>
          <a:bodyPr>
            <a:spAutoFit/>
          </a:bodyPr>
          <a:lstStyle>
            <a:lvl1pPr eaLnBrk="0" hangingPunct="0">
              <a:tabLst>
                <a:tab pos="3903345"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03345"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03345"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03345"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03345" algn="l"/>
              </a:tabLst>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tabLst>
                <a:tab pos="3903345" algn="l"/>
              </a:tabLs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tabLst>
                <a:tab pos="3903345" algn="l"/>
              </a:tabLs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tabLst>
                <a:tab pos="3903345" algn="l"/>
              </a:tabLs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tabLst>
                <a:tab pos="3903345" algn="l"/>
              </a:tabLst>
              <a:defRPr>
                <a:solidFill>
                  <a:schemeClr val="tx1"/>
                </a:solidFill>
                <a:latin typeface="Arial" panose="020B0604020202020204" pitchFamily="34" charset="0"/>
                <a:cs typeface="Arial" panose="020B0604020202020204" pitchFamily="34" charset="0"/>
              </a:defRPr>
            </a:lvl9pPr>
          </a:lstStyle>
          <a:p>
            <a:pPr marL="0" marR="0" lvl="0" indent="0" algn="just" defTabSz="457200" rtl="0" eaLnBrk="1" fontAlgn="base" latinLnBrk="0" hangingPunct="1">
              <a:lnSpc>
                <a:spcPct val="150000"/>
              </a:lnSpc>
              <a:spcBef>
                <a:spcPct val="0"/>
              </a:spcBef>
              <a:spcAft>
                <a:spcPct val="0"/>
              </a:spcAft>
              <a:buClrTx/>
              <a:buSzTx/>
              <a:buFontTx/>
              <a:buNone/>
              <a:tabLst>
                <a:tab pos="3903345" algn="l"/>
              </a:tabLst>
              <a:defRPr/>
            </a:pPr>
            <a:r>
              <a:rPr kumimoji="0" lang="en-US" sz="2400" b="0" i="0" u="none" strike="noStrike" kern="1200" cap="none" spc="-1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future,</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we</a:t>
            </a:r>
            <a:r>
              <a:rPr kumimoji="0" lang="en-US" sz="2400" b="0" i="0" u="none" strike="noStrike" kern="1200" cap="none" spc="3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plan</a:t>
            </a:r>
            <a:r>
              <a:rPr kumimoji="0" lang="en-US" sz="2400" b="0" i="0" u="none" strike="noStrike" kern="1200" cap="none" spc="4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to</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build</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Fertilizer</a:t>
            </a:r>
            <a:r>
              <a:rPr kumimoji="0" lang="en-US" sz="2400" b="0" i="0" u="none" strike="noStrike" kern="1200" cap="none" spc="4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Recommendation</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System</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which</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a:t>
            </a:r>
            <a:r>
              <a:rPr kumimoji="0" lang="en-US" sz="2400" b="0" i="0" u="none" strike="noStrike" kern="1200" cap="none" spc="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be</a:t>
            </a:r>
            <a:r>
              <a:rPr kumimoji="0" lang="en-US" sz="2400" b="0" i="0" u="none" strike="noStrike" kern="1200" cap="none" spc="4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utilized</a:t>
            </a:r>
            <a:r>
              <a:rPr kumimoji="0" lang="en-US" sz="2400" b="0" i="0" u="none" strike="noStrike" kern="1200" cap="none" spc="23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effectively</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1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by</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a:t>
            </a:r>
            <a:r>
              <a:rPr kumimoji="0" lang="en-US" sz="2400" b="0" i="0" u="none" strike="noStrike" kern="1200" cap="none" spc="9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Soil</a:t>
            </a:r>
            <a:r>
              <a:rPr kumimoji="0" lang="en-US" sz="2400" b="0" i="0" u="none" strike="noStrike" kern="1200" cap="none" spc="9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Testing</a:t>
            </a:r>
            <a:r>
              <a:rPr kumimoji="0" lang="en-US" sz="2400" b="0" i="0" u="none" strike="noStrike" kern="1200" cap="none" spc="9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Laboratories.</a:t>
            </a:r>
            <a:r>
              <a:rPr kumimoji="0" lang="en-US" sz="2400" b="0" i="0" u="none" strike="noStrike" kern="1200" cap="none" spc="9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This</a:t>
            </a:r>
            <a:r>
              <a:rPr kumimoji="0" lang="en-US" sz="2400" b="0" i="0" u="none" strike="noStrike" kern="1200" cap="none" spc="9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System</a:t>
            </a:r>
            <a:r>
              <a:rPr kumimoji="0" lang="en-US" sz="2400" b="0" i="0" u="none" strike="noStrike" kern="1200" cap="none" spc="9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will</a:t>
            </a:r>
            <a:r>
              <a:rPr kumimoji="0" lang="en-US" sz="2400" b="0" i="0" u="none" strike="noStrike" kern="1200" cap="none" spc="9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recommend</a:t>
            </a:r>
            <a:r>
              <a:rPr kumimoji="0" lang="en-US" sz="2400" b="0" i="0" u="none" strike="noStrike" kern="1200" cap="none" spc="10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appropriate</a:t>
            </a:r>
            <a:r>
              <a:rPr kumimoji="0" lang="en-US" sz="2400" b="0" i="0" u="none" strike="noStrike" kern="1200" cap="none" spc="9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fertilizer</a:t>
            </a:r>
            <a:r>
              <a:rPr kumimoji="0" lang="en-US" sz="2400" b="0" i="0" u="none" strike="noStrike" kern="1200" cap="none" spc="28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for</a:t>
            </a:r>
            <a:r>
              <a:rPr kumimoji="0" lang="en-US" sz="2400" b="0" i="0" u="none" strike="noStrike" kern="1200" cap="none" spc="6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a:t>
            </a:r>
            <a:r>
              <a:rPr kumimoji="0" lang="en-US" sz="2400" b="0" i="0" u="none" strike="noStrike" kern="1200" cap="none" spc="6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given</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soil</a:t>
            </a:r>
            <a:r>
              <a:rPr kumimoji="0" lang="en-US" sz="2400" b="0" i="0" u="none" strike="noStrike" kern="1200" cap="none" spc="7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sample</a:t>
            </a:r>
            <a:r>
              <a:rPr kumimoji="0" lang="en-US" sz="2400" b="0" i="0" u="none" strike="noStrike" kern="1200" cap="none" spc="6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cropping</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pattern.</a:t>
            </a:r>
            <a:r>
              <a:rPr kumimoji="0" lang="en-US" sz="2400" b="0" i="0" u="none" strike="noStrike" kern="1200" cap="none" spc="8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We</a:t>
            </a:r>
            <a:r>
              <a:rPr kumimoji="0" lang="en-US" sz="2400" b="0" i="0" u="none" strike="noStrike" kern="1200" cap="none" spc="6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add</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module</a:t>
            </a:r>
            <a:r>
              <a:rPr kumimoji="0" lang="en-US" sz="2400" b="0" i="0" u="none" strike="noStrike" kern="1200" cap="none" spc="6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if</a:t>
            </a:r>
            <a:r>
              <a:rPr kumimoji="0" lang="en-US" sz="2400" b="0" i="0" u="none" strike="noStrike" kern="1200" cap="none" spc="6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any</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queries</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are</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there,</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a:t>
            </a:r>
            <a:r>
              <a:rPr kumimoji="0" lang="en-US" sz="2400" b="0" i="0" u="none" strike="noStrike" kern="1200" cap="none" spc="27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staff</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directly</a:t>
            </a:r>
            <a:r>
              <a:rPr kumimoji="0" lang="en-US" sz="2400" b="0" i="0" u="none" strike="noStrike" kern="1200" cap="none" spc="3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interact</a:t>
            </a:r>
            <a:r>
              <a:rPr kumimoji="0" lang="en-US" sz="2400" b="0" i="0" u="none" strike="noStrike" kern="1200" cap="none" spc="7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with</a:t>
            </a:r>
            <a:r>
              <a:rPr kumimoji="0" lang="en-US" sz="2400" b="0" i="0" u="none" strike="noStrike" kern="1200" cap="none" spc="6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administrator</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very</a:t>
            </a:r>
            <a:r>
              <a:rPr kumimoji="0" lang="en-US" sz="2400" b="0" i="0" u="none" strike="noStrike" kern="1200" cap="none" spc="3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easily.</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We</a:t>
            </a:r>
            <a:r>
              <a:rPr kumimoji="0" lang="en-US" sz="2400" b="0" i="0" u="none" strike="noStrike" kern="1200" cap="none" spc="5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also</a:t>
            </a:r>
            <a:r>
              <a:rPr kumimoji="0" lang="en-US" sz="2400" b="0" i="0" u="none" strike="noStrike" kern="1200" cap="none" spc="6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determine</a:t>
            </a:r>
            <a:r>
              <a:rPr kumimoji="0" lang="en-US" sz="2400" b="0" i="0" u="none" strike="noStrike" kern="1200" cap="none" spc="5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a:t>
            </a:r>
            <a:r>
              <a:rPr kumimoji="0" lang="en-US" sz="2400" b="0" i="0" u="none" strike="noStrike" kern="1200" cap="none" spc="5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efficient</a:t>
            </a:r>
            <a:r>
              <a:rPr kumimoji="0" lang="en-US" sz="2400" b="0" i="0" u="none" strike="noStrike" kern="1200" cap="none" spc="44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algorithm</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based</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on their accuracy</a:t>
            </a:r>
            <a:r>
              <a:rPr kumimoji="0" lang="en-US" sz="2400" b="0" i="0" u="none" strike="noStrike" kern="1200" cap="none" spc="-2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metrics</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that</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will helps to</a:t>
            </a:r>
            <a:r>
              <a:rPr kumimoji="0" lang="en-US" sz="2400" b="0" i="0" u="none" strike="noStrike" kern="1200" cap="none" spc="-1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choose an</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efficient</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algorithm</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for</a:t>
            </a:r>
            <a:r>
              <a:rPr kumimoji="0" lang="en-US" sz="2400" b="0" i="0" u="none" strike="noStrike" kern="1200" cap="none" spc="-1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crop</a:t>
            </a:r>
            <a:r>
              <a:rPr kumimoji="0" lang="en-US" sz="2400" b="0" i="0" u="none" strike="noStrike" kern="1200" cap="none" spc="38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kern="1200" cap="none" spc="-5"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yield</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prediction.</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457200" rtl="0" eaLnBrk="1" fontAlgn="base" latinLnBrk="0" hangingPunct="1">
              <a:lnSpc>
                <a:spcPct val="150000"/>
              </a:lnSpc>
              <a:spcBef>
                <a:spcPct val="0"/>
              </a:spcBef>
              <a:spcAft>
                <a:spcPct val="0"/>
              </a:spcAft>
              <a:buClrTx/>
              <a:buSzTx/>
              <a:buFontTx/>
              <a:buNone/>
              <a:tabLst>
                <a:tab pos="3903345" algn="l"/>
              </a:tabLst>
              <a:defRPr/>
            </a:pPr>
            <a:endParaRPr kumimoji="0" lang="en-IN" altLang="en-US" sz="1800" b="0" i="0" u="none" strike="noStrike" kern="1200" cap="none" spc="0" normalizeH="0" baseline="0" noProof="0" dirty="0">
              <a:ln>
                <a:noFill/>
              </a:ln>
              <a:solidFill>
                <a:schemeClr val="tx1"/>
              </a:solidFill>
              <a:effectLst/>
              <a:uLnTx/>
              <a:uFillTx/>
              <a:latin typeface="Tw Cen MT" panose="020B0602020104020603" pitchFamily="34" charset="0"/>
              <a:ea typeface="+mn-ea"/>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Box 1"/>
          <p:cNvSpPr txBox="1"/>
          <p:nvPr/>
        </p:nvSpPr>
        <p:spPr>
          <a:xfrm>
            <a:off x="1109663" y="558800"/>
            <a:ext cx="9863137" cy="708025"/>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r>
              <a:rPr lang="en-IN" altLang="en-US" sz="4000" b="1" dirty="0">
                <a:latin typeface="Times New Roman" panose="02020603050405020304" pitchFamily="18" charset="0"/>
                <a:cs typeface="Times New Roman" panose="02020603050405020304" pitchFamily="18" charset="0"/>
              </a:rPr>
              <a:t>Bibliography</a:t>
            </a:r>
            <a:endParaRPr lang="en-IN" altLang="en-US" sz="4000" b="1" dirty="0">
              <a:latin typeface="Times New Roman" panose="02020603050405020304" pitchFamily="18" charset="0"/>
              <a:ea typeface="Times New Roman" panose="02020603050405020304" pitchFamily="18" charset="0"/>
            </a:endParaRPr>
          </a:p>
        </p:txBody>
      </p:sp>
      <p:sp>
        <p:nvSpPr>
          <p:cNvPr id="27651" name="TextBox 2"/>
          <p:cNvSpPr txBox="1"/>
          <p:nvPr/>
        </p:nvSpPr>
        <p:spPr>
          <a:xfrm>
            <a:off x="1331913" y="1962150"/>
            <a:ext cx="10369550" cy="369888"/>
          </a:xfrm>
          <a:prstGeom prst="rect">
            <a:avLst/>
          </a:prstGeom>
          <a:noFill/>
          <a:ln w="9525">
            <a:noFill/>
          </a:ln>
        </p:spPr>
        <p:txBody>
          <a:bodyPr>
            <a:sp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defTabSz="457200" eaLnBrk="1" hangingPunct="1">
              <a:lnSpc>
                <a:spcPct val="100000"/>
              </a:lnSpc>
              <a:spcBef>
                <a:spcPct val="0"/>
              </a:spcBef>
              <a:buSzTx/>
              <a:buFontTx/>
              <a:buNone/>
            </a:pPr>
            <a:endParaRPr lang="en-IN" altLang="en-US" sz="1800" dirty="0">
              <a:ea typeface="Arial" panose="020B0604020202020204" pitchFamily="34" charset="0"/>
            </a:endParaRPr>
          </a:p>
        </p:txBody>
      </p:sp>
      <p:sp>
        <p:nvSpPr>
          <p:cNvPr id="27652" name="TextBox 3"/>
          <p:cNvSpPr txBox="1"/>
          <p:nvPr/>
        </p:nvSpPr>
        <p:spPr>
          <a:xfrm>
            <a:off x="908050" y="1199515"/>
            <a:ext cx="10675620" cy="5522595"/>
          </a:xfrm>
          <a:prstGeom prst="rect">
            <a:avLst/>
          </a:prstGeom>
          <a:noFill/>
          <a:ln w="9525">
            <a:noFill/>
          </a:ln>
        </p:spPr>
        <p:txBody>
          <a:bodyPr>
            <a:noAutofit/>
          </a:bodyPr>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[1] Abd Rahman, A., 1992, ‗Agricultural Development in Malaysia: Retrospect and Prospects‘, Journal of Economic Cooperation among Islamic Countries, 13:3-4: pp 51-86.</a:t>
            </a:r>
            <a:endParaRPr lang="en-US" altLang="en-US" sz="1400" dirty="0">
              <a:latin typeface="Times New Roman" panose="02020603050405020304" pitchFamily="18" charset="0"/>
              <a:cs typeface="Times New Roman" panose="02020603050405020304" pitchFamily="18" charset="0"/>
            </a:endParaRPr>
          </a:p>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 [2] Wong, L. C. Y., 2006, ‗Implications of Regional and Global Developments on Agriculture and Its Competitiveness in CLMV: Increasing Importance of Supply Chanis and International Trading Networks‘, paper presented at SEARCA Policy Round Table on ‗ Shoring and Sharing Capabilities to Improve Agriculture and its Competitiveness in Transition Southeast Asia‘, Siem Reap, Cambodia, 24-25 April, 2006. </a:t>
            </a:r>
            <a:endParaRPr lang="en-US" altLang="en-US" sz="1400" dirty="0">
              <a:latin typeface="Times New Roman" panose="02020603050405020304" pitchFamily="18" charset="0"/>
              <a:cs typeface="Times New Roman" panose="02020603050405020304" pitchFamily="18" charset="0"/>
            </a:endParaRPr>
          </a:p>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[3] FAO, 2008a. The state of food insecurity in the world: High food prices and food security – threats and opportunities. http://www.fao.org/SOF/sofi/. </a:t>
            </a:r>
            <a:endParaRPr lang="en-US" altLang="en-US" sz="1400" dirty="0">
              <a:latin typeface="Times New Roman" panose="02020603050405020304" pitchFamily="18" charset="0"/>
              <a:cs typeface="Times New Roman" panose="02020603050405020304" pitchFamily="18" charset="0"/>
            </a:endParaRPr>
          </a:p>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[4] </a:t>
            </a:r>
            <a:r>
              <a:rPr lang="en-US" altLang="en-US" sz="1400" dirty="0">
                <a:latin typeface="Times New Roman" panose="02020603050405020304" pitchFamily="18" charset="0"/>
                <a:cs typeface="Times New Roman" panose="02020603050405020304" pitchFamily="18" charset="0"/>
                <a:hlinkClick r:id="rId1"/>
              </a:rPr>
              <a:t>NKEA-Agriculture@pemandu.gov.my</a:t>
            </a:r>
            <a:r>
              <a:rPr lang="en-US" altLang="en-US" sz="1400" dirty="0">
                <a:latin typeface="Times New Roman" panose="02020603050405020304" pitchFamily="18" charset="0"/>
                <a:cs typeface="Times New Roman" panose="02020603050405020304" pitchFamily="18" charset="0"/>
              </a:rPr>
              <a:t>.</a:t>
            </a:r>
            <a:endParaRPr lang="en-US" altLang="en-US" sz="1400" dirty="0">
              <a:latin typeface="Times New Roman" panose="02020603050405020304" pitchFamily="18" charset="0"/>
              <a:cs typeface="Times New Roman" panose="02020603050405020304" pitchFamily="18" charset="0"/>
            </a:endParaRPr>
          </a:p>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 [5] Abdullah Chek Sahamat, Native Customary Right Land Development: An Approach to Improve the Rural Native Wellbeing of Sarawak, Seminar Kebangsaan Perancangan Bandar dan Wilayah Ke-23 (Skudai: UTM, 21 September 2005). </a:t>
            </a:r>
            <a:endParaRPr lang="en-US" altLang="en-US" sz="1400" dirty="0">
              <a:latin typeface="Times New Roman" panose="02020603050405020304" pitchFamily="18" charset="0"/>
              <a:cs typeface="Times New Roman" panose="02020603050405020304" pitchFamily="18" charset="0"/>
            </a:endParaRPr>
          </a:p>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[6] http://www.pbs.org/newshour/rundown/2013/05/in-south-africa-using-mobile-technology-To improve-maternalhealth-access.html. </a:t>
            </a:r>
            <a:endParaRPr lang="en-US" altLang="en-US" sz="1400" dirty="0">
              <a:latin typeface="Times New Roman" panose="02020603050405020304" pitchFamily="18" charset="0"/>
              <a:cs typeface="Times New Roman" panose="02020603050405020304" pitchFamily="18" charset="0"/>
            </a:endParaRPr>
          </a:p>
          <a:p>
            <a:pPr marL="0" lvl="0" indent="0" algn="just" defTabSz="457200">
              <a:lnSpc>
                <a:spcPct val="170000"/>
              </a:lnSpc>
              <a:spcBef>
                <a:spcPct val="0"/>
              </a:spcBef>
              <a:buSzTx/>
              <a:buFontTx/>
              <a:buNone/>
              <a:tabLst>
                <a:tab pos="3903980" algn="l"/>
              </a:tabLst>
            </a:pPr>
            <a:r>
              <a:rPr lang="en-US" altLang="en-US" sz="1400" dirty="0">
                <a:latin typeface="Times New Roman" panose="02020603050405020304" pitchFamily="18" charset="0"/>
                <a:cs typeface="Times New Roman" panose="02020603050405020304" pitchFamily="18" charset="0"/>
              </a:rPr>
              <a:t>[7] http://etp.pemandu.gov.my/annualreport2012/upload/Eng_ETP2012_07_NKEA05_POR.pdf.</a:t>
            </a:r>
            <a:endParaRPr lang="en-US" altLang="en-US" sz="1400" dirty="0">
              <a:latin typeface="Times New Roman" panose="02020603050405020304" pitchFamily="18" charset="0"/>
              <a:ea typeface="Arial" panose="020B0604020202020204" pitchFamily="34"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2" descr="Simple Thank You Slide PowerPoint Designs | Slidebazaar"/>
          <p:cNvPicPr>
            <a:picLocks noChangeAspect="1"/>
          </p:cNvPicPr>
          <p:nvPr/>
        </p:nvPicPr>
        <p:blipFill>
          <a:blip r:embed="rId1"/>
          <a:stretch>
            <a:fillRect/>
          </a:stretch>
        </p:blipFill>
        <p:spPr>
          <a:xfrm>
            <a:off x="0" y="0"/>
            <a:ext cx="12192000" cy="6858000"/>
          </a:xfrm>
          <a:prstGeom prst="rect">
            <a:avLst/>
          </a:prstGeom>
          <a:noFill/>
          <a:ln w="9525">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 design</Template>
  <TotalTime>0</TotalTime>
  <Words>9600</Words>
  <Application>WPS Presentation</Application>
  <PresentationFormat>Widescreen</PresentationFormat>
  <Paragraphs>237</Paragraphs>
  <Slides>23</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23</vt:i4>
      </vt:variant>
    </vt:vector>
  </HeadingPairs>
  <TitlesOfParts>
    <vt:vector size="44" baseType="lpstr">
      <vt:lpstr>Arial</vt:lpstr>
      <vt:lpstr>SimSun</vt:lpstr>
      <vt:lpstr>Wingdings</vt:lpstr>
      <vt:lpstr>Tw Cen MT</vt:lpstr>
      <vt:lpstr>Calibri</vt:lpstr>
      <vt:lpstr>Calibri Light</vt:lpstr>
      <vt:lpstr>Trebuchet MS</vt:lpstr>
      <vt:lpstr>Times New Roman</vt:lpstr>
      <vt:lpstr>Time new roman</vt:lpstr>
      <vt:lpstr>Segoe Print</vt:lpstr>
      <vt:lpstr>Arial MT</vt:lpstr>
      <vt:lpstr>TimesNewRomanPSMT</vt:lpstr>
      <vt:lpstr>Symbol</vt:lpstr>
      <vt:lpstr>Roboto</vt:lpstr>
      <vt:lpstr>Trebuchet MS</vt:lpstr>
      <vt:lpstr>Times New Roman</vt:lpstr>
      <vt:lpstr>Microsoft YaHei</vt:lpstr>
      <vt:lpstr>Arial Unicode MS</vt:lpstr>
      <vt:lpstr>Broadway</vt:lpstr>
      <vt:lpstr>Circuit</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 technology</dc:title>
  <dc:creator>Manasa Raghavaraju</dc:creator>
  <cp:lastModifiedBy>Rajender Patel</cp:lastModifiedBy>
  <cp:revision>43</cp:revision>
  <dcterms:created xsi:type="dcterms:W3CDTF">2021-12-10T14:51:34Z</dcterms:created>
  <dcterms:modified xsi:type="dcterms:W3CDTF">2025-02-21T05:38:24Z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KeyPoints">
    <vt:lpwstr/>
  </property>
  <property fmtid="{D5CDD505-2E9C-101B-9397-08002B2CF9AE}" pid="4" name="ICV">
    <vt:lpwstr>B8CE4B99E9B2400B887ACDE4383EE4DC_13</vt:lpwstr>
  </property>
  <property fmtid="{D5CDD505-2E9C-101B-9397-08002B2CF9AE}" pid="5" name="KSOProductBuildVer">
    <vt:lpwstr>2057-12.2.0.19821</vt:lpwstr>
  </property>
</Properties>
</file>